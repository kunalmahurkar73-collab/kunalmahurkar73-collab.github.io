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Your cart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Paperback · sample item · ₹207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87368"/>
            <a:ext cx="18288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1">
                <a:solidFill>
                  <a:srgbClr val="131921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4005072"/>
            <a:ext cx="1508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5808" y="4087368"/>
            <a:ext cx="10972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1">
                <a:solidFill>
                  <a:srgbClr val="131921"/>
                </a:solidFill>
                <a:latin typeface="Aptos"/>
              </a:defRPr>
            </a:pPr>
            <a:r>
              <a:t>−    1    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056632"/>
            <a:ext cx="338328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" y="5138928"/>
            <a:ext cx="310896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Continue to address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Choose a delivery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Where should it go?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Sample addresses only. No personal information is collected.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3904487"/>
            <a:ext cx="6309360" cy="612648"/>
          </a:xfrm>
          <a:prstGeom prst="roundRect">
            <a:avLst/>
          </a:prstGeom>
          <a:solidFill>
            <a:srgbClr val="F5F6F6"/>
          </a:solidFill>
          <a:ln>
            <a:solidFill>
              <a:srgbClr val="00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" y="4087368"/>
            <a:ext cx="530352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31921"/>
                </a:solidFill>
                <a:latin typeface="Aptos"/>
              </a:defRPr>
            </a:pPr>
            <a:r>
              <a:t>◉  Home · sample address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4663440"/>
            <a:ext cx="63093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846320"/>
            <a:ext cx="530352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31921"/>
                </a:solidFill>
                <a:latin typeface="Aptos"/>
              </a:defRPr>
            </a:pPr>
            <a:r>
              <a:t>○  Work · sample address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413248"/>
            <a:ext cx="338328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5495544"/>
            <a:ext cx="310896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Continue to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Select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Choose your delivery 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Compare timing and price before continuing.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3904487"/>
            <a:ext cx="6309360" cy="612648"/>
          </a:xfrm>
          <a:prstGeom prst="roundRect">
            <a:avLst/>
          </a:prstGeom>
          <a:solidFill>
            <a:srgbClr val="F5F6F6"/>
          </a:solidFill>
          <a:ln>
            <a:solidFill>
              <a:srgbClr val="00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" y="4087368"/>
            <a:ext cx="557784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31921"/>
                </a:solidFill>
                <a:latin typeface="Aptos"/>
              </a:defRPr>
            </a:pPr>
            <a:r>
              <a:t>◉  Fastest available delivery       FREE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4663440"/>
            <a:ext cx="63093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846320"/>
            <a:ext cx="557784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31921"/>
                </a:solidFill>
                <a:latin typeface="Aptos"/>
              </a:defRPr>
            </a:pPr>
            <a:r>
              <a:t>○  Later delivery day                 FREE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413248"/>
            <a:ext cx="338328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5495544"/>
            <a:ext cx="310896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Continue to payment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Choose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How would you like to pay?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Simulated methods only. No credentials are requested.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3813048"/>
            <a:ext cx="6309360" cy="484632"/>
          </a:xfrm>
          <a:prstGeom prst="roundRect">
            <a:avLst/>
          </a:prstGeom>
          <a:solidFill>
            <a:srgbClr val="F5F6F6"/>
          </a:solidFill>
          <a:ln>
            <a:solidFill>
              <a:srgbClr val="00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" y="3931920"/>
            <a:ext cx="566928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131921"/>
                </a:solidFill>
                <a:latin typeface="Aptos"/>
              </a:defRPr>
            </a:pPr>
            <a:r>
              <a:t>◉  UPI · no added fee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4379976"/>
            <a:ext cx="630936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498848"/>
            <a:ext cx="566928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131921"/>
                </a:solidFill>
                <a:latin typeface="Aptos"/>
              </a:defRPr>
            </a:pPr>
            <a:r>
              <a:t>○  Card · no added fee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" y="4946904"/>
            <a:ext cx="630936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" y="5065776"/>
            <a:ext cx="566928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131921"/>
                </a:solidFill>
                <a:latin typeface="Aptos"/>
              </a:defRPr>
            </a:pPr>
            <a:r>
              <a:t>○  Cash on delivery · ₹7 fee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577840"/>
            <a:ext cx="338328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5660136"/>
            <a:ext cx="310896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Review your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Review your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654296"/>
            <a:ext cx="192024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COD 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4654296"/>
            <a:ext cx="749808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131921"/>
                </a:solidFill>
                <a:latin typeface="Aptos"/>
              </a:defRPr>
            </a:pPr>
            <a:r>
              <a:t>+ ₹7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Check before you 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Edit any choice without losing progress.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3758184"/>
            <a:ext cx="1444752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4016" y="3758184"/>
            <a:ext cx="3172968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DIP ×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3758184"/>
            <a:ext cx="4572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007185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4187952"/>
            <a:ext cx="1444752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Address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4016" y="4187952"/>
            <a:ext cx="3172968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4187952"/>
            <a:ext cx="4572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007185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4617720"/>
            <a:ext cx="1444752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4016" y="4617720"/>
            <a:ext cx="3172968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Fastest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4617720"/>
            <a:ext cx="4572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007185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047488"/>
            <a:ext cx="1444752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14016" y="5047488"/>
            <a:ext cx="3172968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Cash on delivery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5047488"/>
            <a:ext cx="4572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007185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513832"/>
            <a:ext cx="338328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5596128"/>
            <a:ext cx="310896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Place simulated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Checking your demo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This simulation sends no payment or order to Amazon.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069080"/>
            <a:ext cx="6217920" cy="685800"/>
          </a:xfrm>
          <a:prstGeom prst="roundRect">
            <a:avLst/>
          </a:prstGeom>
          <a:solidFill>
            <a:srgbClr val="F5F6F6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270248"/>
            <a:ext cx="539496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31921"/>
                </a:solidFill>
                <a:latin typeface="Aptos"/>
              </a:defRPr>
            </a:pPr>
            <a:r>
              <a:t>Please wait · your choices remain saved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Payment could not be 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No payment was taken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Your selections are saved. Choose a safe next step.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059936"/>
            <a:ext cx="6217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8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215384"/>
            <a:ext cx="5486400" cy="28346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A8262B"/>
                </a:solidFill>
                <a:latin typeface="Aptos"/>
              </a:defRPr>
            </a:pPr>
            <a:r>
              <a:t>Simulated failure · transaction status is clear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001768"/>
            <a:ext cx="260604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084064"/>
            <a:ext cx="233172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Retry from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5001768"/>
            <a:ext cx="31546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8184" y="5084064"/>
            <a:ext cx="288036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Change payment method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Recovery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535B5E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Choose another way to 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Your address, delivery and quantity remain selected.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3904487"/>
            <a:ext cx="6309360" cy="612648"/>
          </a:xfrm>
          <a:prstGeom prst="roundRect">
            <a:avLst/>
          </a:prstGeom>
          <a:solidFill>
            <a:srgbClr val="F5F6F6"/>
          </a:solidFill>
          <a:ln>
            <a:solidFill>
              <a:srgbClr val="00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" y="4087368"/>
            <a:ext cx="557784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31921"/>
                </a:solidFill>
                <a:latin typeface="Aptos"/>
              </a:defRPr>
            </a:pPr>
            <a:r>
              <a:t>◉  Cash on delivery · ₹7 fee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992624"/>
            <a:ext cx="310896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074920"/>
            <a:ext cx="283464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Return to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3749039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KM.  /  CHECKOUT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01168"/>
            <a:ext cx="3474720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SAFE SIMULATION  ·  NO REAL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7498079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007185"/>
                </a:solidFill>
                <a:latin typeface="Aptos"/>
              </a:defRPr>
            </a:pPr>
            <a:r>
              <a:t>PROPOSED DESKTOP CHECKOUT  /  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955279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31921"/>
                </a:solidFill>
                <a:latin typeface="Aptos"/>
              </a:defRPr>
            </a:pPr>
            <a:r>
              <a:t>Demo order confirmed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02 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04 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847088"/>
            <a:ext cx="2066543" cy="438912"/>
          </a:xfrm>
          <a:prstGeom prst="roundRect">
            <a:avLst/>
          </a:prstGeom>
          <a:solidFill>
            <a:srgbClr val="232F3E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47672"/>
            <a:ext cx="18288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51176"/>
            <a:ext cx="7315200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7575" y="2551176"/>
            <a:ext cx="3639312" cy="3511296"/>
          </a:xfrm>
          <a:prstGeom prst="roundRect">
            <a:avLst/>
          </a:prstGeom>
          <a:solidFill>
            <a:srgbClr val="FFFFFF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34640"/>
            <a:ext cx="301752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1">
                <a:solidFill>
                  <a:srgbClr val="131921"/>
                </a:solidFill>
                <a:latin typeface="Aptos"/>
              </a:defRPr>
            </a:pPr>
            <a:r>
              <a:t>ORDER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46704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131921"/>
                </a:solidFill>
                <a:latin typeface="Aptos"/>
              </a:defRPr>
            </a:pPr>
            <a:r>
              <a:t>DIP: A Little Book of Wisdom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8404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Item 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3928" y="3840480"/>
            <a:ext cx="56692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97680"/>
            <a:ext cx="201168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35B5E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2488" y="4297680"/>
            <a:ext cx="658368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007185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5047488"/>
            <a:ext cx="3099816" cy="18288"/>
          </a:xfrm>
          <a:prstGeom prst="roundRect">
            <a:avLst/>
          </a:prstGeom>
          <a:solidFill>
            <a:srgbClr val="D3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30368"/>
            <a:ext cx="19202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Total payable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5230368"/>
            <a:ext cx="749808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31921"/>
                </a:solidFill>
                <a:latin typeface="Aptos"/>
              </a:defRPr>
            </a:pPr>
            <a:r>
              <a:t>₹207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73952"/>
            <a:ext cx="76809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35B5E"/>
                </a:solidFill>
                <a:latin typeface="Aptos"/>
              </a:defRPr>
            </a:pPr>
            <a:r>
              <a:t>Educational redesign · editable PowerPoint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852928"/>
            <a:ext cx="64922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300" b="1">
                <a:solidFill>
                  <a:srgbClr val="131921"/>
                </a:solidFill>
                <a:latin typeface="Aptos"/>
              </a:defRPr>
            </a:pPr>
            <a:r>
              <a:t>Your simulated order is confirmed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300984"/>
            <a:ext cx="6400800" cy="52120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35B5E"/>
                </a:solidFill>
                <a:latin typeface="Aptos"/>
              </a:defRPr>
            </a:pPr>
            <a:r>
              <a:t>Local demo reference: LOCAL-2026 · no real order was placed.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977639"/>
            <a:ext cx="6172200" cy="685800"/>
          </a:xfrm>
          <a:prstGeom prst="roundRect">
            <a:avLst/>
          </a:prstGeom>
          <a:solidFill>
            <a:srgbClr val="F5F6F6"/>
          </a:solidFill>
          <a:ln>
            <a:solidFill>
              <a:srgbClr val="00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197096"/>
            <a:ext cx="5486400" cy="3017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007185"/>
                </a:solidFill>
                <a:latin typeface="Aptos"/>
              </a:defRPr>
            </a:pPr>
            <a:r>
              <a:t>✓  Confirmation state is clear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056632"/>
            <a:ext cx="2468880" cy="438912"/>
          </a:xfrm>
          <a:prstGeom prst="roundRect">
            <a:avLst/>
          </a:prstGeom>
          <a:solidFill>
            <a:srgbClr val="FFD814"/>
          </a:solidFill>
          <a:ln>
            <a:solidFill>
              <a:srgbClr val="D3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138928"/>
            <a:ext cx="219456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1">
                <a:solidFill>
                  <a:srgbClr val="131921"/>
                </a:solidFill>
                <a:latin typeface="Aptos"/>
              </a:defRPr>
            </a:pPr>
            <a:r>
              <a:t>Reset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