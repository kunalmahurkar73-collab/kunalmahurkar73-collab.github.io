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Your cart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Paperback · sample item · ₹207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493008"/>
            <a:ext cx="182880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1">
                <a:solidFill>
                  <a:srgbClr val="131921"/>
                </a:solidFill>
                <a:latin typeface="Aptos"/>
              </a:defRPr>
            </a:pPr>
            <a:r>
              <a:t>Quantity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34640" y="3410712"/>
            <a:ext cx="1508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5808" y="3493008"/>
            <a:ext cx="109728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1">
                <a:solidFill>
                  <a:srgbClr val="131921"/>
                </a:solidFill>
                <a:latin typeface="Aptos"/>
              </a:defRPr>
            </a:pPr>
            <a:r>
              <a:t>−    1    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62272"/>
            <a:ext cx="33832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544568"/>
            <a:ext cx="31089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Continue to address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Choose a delivery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Where should it 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Sample addresses only. No personal information is collected.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3310127"/>
            <a:ext cx="6309360" cy="612648"/>
          </a:xfrm>
          <a:prstGeom prst="roundRect">
            <a:avLst/>
          </a:prstGeom>
          <a:solidFill>
            <a:srgbClr val="F5F6F6"/>
          </a:solidFill>
          <a:ln>
            <a:solidFill>
              <a:srgbClr val="00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493008"/>
            <a:ext cx="530352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0">
                <a:solidFill>
                  <a:srgbClr val="131921"/>
                </a:solidFill>
                <a:latin typeface="Aptos"/>
              </a:defRPr>
            </a:pPr>
            <a:r>
              <a:t>◉  Home · sample address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069080"/>
            <a:ext cx="630936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" y="4251960"/>
            <a:ext cx="530352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0">
                <a:solidFill>
                  <a:srgbClr val="131921"/>
                </a:solidFill>
                <a:latin typeface="Aptos"/>
              </a:defRPr>
            </a:pPr>
            <a:r>
              <a:t>○  Work · sample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18888"/>
            <a:ext cx="33832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4901184"/>
            <a:ext cx="31089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Continue to 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Select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Choose your delivery option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Compare timing and price before continuing.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3310127"/>
            <a:ext cx="6309360" cy="612648"/>
          </a:xfrm>
          <a:prstGeom prst="roundRect">
            <a:avLst/>
          </a:prstGeom>
          <a:solidFill>
            <a:srgbClr val="F5F6F6"/>
          </a:solidFill>
          <a:ln>
            <a:solidFill>
              <a:srgbClr val="00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493008"/>
            <a:ext cx="557784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0">
                <a:solidFill>
                  <a:srgbClr val="131921"/>
                </a:solidFill>
                <a:latin typeface="Aptos"/>
              </a:defRPr>
            </a:pPr>
            <a:r>
              <a:t>◉  Fastest available delivery       FREE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069080"/>
            <a:ext cx="6309360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" y="4251960"/>
            <a:ext cx="557784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0">
                <a:solidFill>
                  <a:srgbClr val="131921"/>
                </a:solidFill>
                <a:latin typeface="Aptos"/>
              </a:defRPr>
            </a:pPr>
            <a:r>
              <a:t>○  Later delivery day                 FREE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18888"/>
            <a:ext cx="33832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4901184"/>
            <a:ext cx="31089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Continue to payment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Choose payment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How would you like to pay?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Simulated methods only. No credentials are requested.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3218688"/>
            <a:ext cx="6309360" cy="484632"/>
          </a:xfrm>
          <a:prstGeom prst="roundRect">
            <a:avLst/>
          </a:prstGeom>
          <a:solidFill>
            <a:srgbClr val="F5F6F6"/>
          </a:solidFill>
          <a:ln>
            <a:solidFill>
              <a:srgbClr val="00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337560"/>
            <a:ext cx="5669280" cy="246888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131921"/>
                </a:solidFill>
                <a:latin typeface="Aptos"/>
              </a:defRPr>
            </a:pPr>
            <a:r>
              <a:t>◉  UPI · no added fee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3785616"/>
            <a:ext cx="6309360" cy="48463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" y="3904488"/>
            <a:ext cx="5669280" cy="246888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131921"/>
                </a:solidFill>
                <a:latin typeface="Aptos"/>
              </a:defRPr>
            </a:pPr>
            <a:r>
              <a:t>○  Card · no added fee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" y="4352544"/>
            <a:ext cx="6309360" cy="48463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" y="4471416"/>
            <a:ext cx="5669280" cy="246888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131921"/>
                </a:solidFill>
                <a:latin typeface="Aptos"/>
              </a:defRPr>
            </a:pPr>
            <a:r>
              <a:t>○  Cash on delivery · ₹7 fee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983480"/>
            <a:ext cx="33832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5065776"/>
            <a:ext cx="31089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Review your order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Review your order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4059936"/>
            <a:ext cx="192024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COD fee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4059936"/>
            <a:ext cx="749808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131921"/>
                </a:solidFill>
                <a:latin typeface="Aptos"/>
              </a:defRPr>
            </a:pPr>
            <a:r>
              <a:t>+ ₹7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Check before you 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Edit any choice without losing progress.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3163824"/>
            <a:ext cx="1444752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163824"/>
            <a:ext cx="3172968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DIP ×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3163824"/>
            <a:ext cx="4572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007185"/>
                </a:solidFill>
                <a:latin typeface="Aptos"/>
              </a:defRPr>
            </a:pPr>
            <a:r>
              <a:t>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593592"/>
            <a:ext cx="1444752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4016" y="3593592"/>
            <a:ext cx="3172968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Home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8504" y="3593592"/>
            <a:ext cx="4572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007185"/>
                </a:solidFill>
                <a:latin typeface="Aptos"/>
              </a:defRPr>
            </a:pPr>
            <a:r>
              <a:t>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023360"/>
            <a:ext cx="1444752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14016" y="4023360"/>
            <a:ext cx="3172968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Fastest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4023360"/>
            <a:ext cx="4572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007185"/>
                </a:solidFill>
                <a:latin typeface="Aptos"/>
              </a:defRPr>
            </a:pPr>
            <a:r>
              <a:t>Edit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453128"/>
            <a:ext cx="1444752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Payment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14016" y="4453128"/>
            <a:ext cx="3172968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Cash on delivery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4453128"/>
            <a:ext cx="45720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007185"/>
                </a:solidFill>
                <a:latin typeface="Aptos"/>
              </a:defRPr>
            </a:pPr>
            <a:r>
              <a:t>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919472"/>
            <a:ext cx="33832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9264" y="5001768"/>
            <a:ext cx="31089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Place simulated order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Checking your demo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This simulation sends no payment or order to Amazon.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474720"/>
            <a:ext cx="6217920" cy="685800"/>
          </a:xfrm>
          <a:prstGeom prst="roundRect">
            <a:avLst/>
          </a:prstGeom>
          <a:solidFill>
            <a:srgbClr val="F5F6F6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3675888"/>
            <a:ext cx="5394960" cy="27432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700" b="0">
                <a:solidFill>
                  <a:srgbClr val="131921"/>
                </a:solidFill>
                <a:latin typeface="Aptos"/>
              </a:defRPr>
            </a:pPr>
            <a:r>
              <a:t>Please wait · your choices remain saved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Payment could not be completed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No payment was taken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Your selections are saved. Choose a safe next step.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465576"/>
            <a:ext cx="62179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A82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3621024"/>
            <a:ext cx="5486400" cy="283464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A8262B"/>
                </a:solidFill>
                <a:latin typeface="Aptos"/>
              </a:defRPr>
            </a:pPr>
            <a:r>
              <a:t>Simulated failure · transaction status is clear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407408"/>
            <a:ext cx="260604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4489704"/>
            <a:ext cx="233172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Retry from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1880" y="4407408"/>
            <a:ext cx="315468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4489704"/>
            <a:ext cx="28803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Change payment 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Recovery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535B5E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Choose another way to pay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Your address, delivery and quantity remain selected.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" y="3310127"/>
            <a:ext cx="6309360" cy="612648"/>
          </a:xfrm>
          <a:prstGeom prst="roundRect">
            <a:avLst/>
          </a:prstGeom>
          <a:solidFill>
            <a:srgbClr val="F5F6F6"/>
          </a:solidFill>
          <a:ln>
            <a:solidFill>
              <a:srgbClr val="00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493008"/>
            <a:ext cx="557784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600" b="0">
                <a:solidFill>
                  <a:srgbClr val="131921"/>
                </a:solidFill>
                <a:latin typeface="Aptos"/>
              </a:defRPr>
            </a:pPr>
            <a:r>
              <a:t>◉  Cash on delivery · ₹7 fee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398264"/>
            <a:ext cx="310896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4480560"/>
            <a:ext cx="283464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Return to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7955279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3000" b="1">
                <a:solidFill>
                  <a:srgbClr val="131921"/>
                </a:solidFill>
                <a:latin typeface="Aptos"/>
              </a:defRPr>
            </a:pPr>
            <a:r>
              <a:t>Demo order confirmed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01  Cart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70632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9504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02 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03  Delivery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6055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7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ptos"/>
              </a:defRPr>
            </a:pPr>
            <a:r>
              <a:t>04 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73768" y="1252728"/>
            <a:ext cx="2066543" cy="438912"/>
          </a:xfrm>
          <a:prstGeom prst="roundRect">
            <a:avLst/>
          </a:prstGeom>
          <a:solidFill>
            <a:srgbClr val="232F3E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353312"/>
            <a:ext cx="1828800" cy="22860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6816"/>
            <a:ext cx="7315200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7575" y="1956816"/>
            <a:ext cx="3639312" cy="3511296"/>
          </a:xfrm>
          <a:prstGeom prst="roundRect">
            <a:avLst/>
          </a:prstGeom>
          <a:solidFill>
            <a:srgbClr val="FFFFFF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240280"/>
            <a:ext cx="3017520" cy="32004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1">
                <a:solidFill>
                  <a:srgbClr val="131921"/>
                </a:solidFill>
                <a:latin typeface="Aptos"/>
              </a:defRPr>
            </a:pPr>
            <a:r>
              <a:t>ORDER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752344"/>
            <a:ext cx="292608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131921"/>
                </a:solidFill>
                <a:latin typeface="Aptos"/>
              </a:defRPr>
            </a:pPr>
            <a:r>
              <a:t>DIP: A Little Book of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2461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Item subtotal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53928" y="3246120"/>
            <a:ext cx="56692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703320"/>
            <a:ext cx="201168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0">
                <a:solidFill>
                  <a:srgbClr val="535B5E"/>
                </a:solidFill>
                <a:latin typeface="Aptos"/>
              </a:defRPr>
            </a:pPr>
            <a: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2488" y="3703320"/>
            <a:ext cx="658368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007185"/>
                </a:solidFill>
                <a:latin typeface="Aptos"/>
              </a:defRPr>
            </a:pPr>
            <a: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4453128"/>
            <a:ext cx="3099816" cy="18288"/>
          </a:xfrm>
          <a:prstGeom prst="roundRect">
            <a:avLst/>
          </a:prstGeom>
          <a:solidFill>
            <a:srgbClr val="D3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4636008"/>
            <a:ext cx="1920240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Total payable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4636008"/>
            <a:ext cx="749808" cy="3657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131921"/>
                </a:solidFill>
                <a:latin typeface="Aptos"/>
              </a:defRPr>
            </a:pPr>
            <a:r>
              <a:t>₹207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2258568"/>
            <a:ext cx="6492240" cy="43891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2300" b="1">
                <a:solidFill>
                  <a:srgbClr val="131921"/>
                </a:solidFill>
                <a:latin typeface="Aptos"/>
              </a:defRPr>
            </a:pPr>
            <a:r>
              <a:t>Your simulated order is confirmed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2706624"/>
            <a:ext cx="6400800" cy="521207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500" b="0">
                <a:solidFill>
                  <a:srgbClr val="535B5E"/>
                </a:solidFill>
                <a:latin typeface="Aptos"/>
              </a:defRPr>
            </a:pPr>
            <a:r>
              <a:t>Local demo reference: LOCAL-2026 · no real order was placed.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383279"/>
            <a:ext cx="6172200" cy="685800"/>
          </a:xfrm>
          <a:prstGeom prst="roundRect">
            <a:avLst/>
          </a:prstGeom>
          <a:solidFill>
            <a:srgbClr val="F5F6F6"/>
          </a:solidFill>
          <a:ln>
            <a:solidFill>
              <a:srgbClr val="00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602736"/>
            <a:ext cx="5486400" cy="3017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800" b="1">
                <a:solidFill>
                  <a:srgbClr val="007185"/>
                </a:solidFill>
                <a:latin typeface="Aptos"/>
              </a:defRPr>
            </a:pPr>
            <a:r>
              <a:t>✓  Confirmation state is clear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462272"/>
            <a:ext cx="2468880" cy="438912"/>
          </a:xfrm>
          <a:prstGeom prst="roundRect">
            <a:avLst/>
          </a:prstGeom>
          <a:solidFill>
            <a:srgbClr val="FFD814"/>
          </a:solidFill>
          <a:ln>
            <a:solidFill>
              <a:srgbClr val="D3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4544568"/>
            <a:ext cx="2194560" cy="265176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>
              <a:defRPr sz="1400" b="1">
                <a:solidFill>
                  <a:srgbClr val="131921"/>
                </a:solidFill>
                <a:latin typeface="Aptos"/>
              </a:defRPr>
            </a:pPr>
            <a:r>
              <a:t>Reset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