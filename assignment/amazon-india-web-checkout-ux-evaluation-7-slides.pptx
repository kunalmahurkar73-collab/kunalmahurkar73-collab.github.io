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observed one Amazon India desktop checkout, placed a cash-on-delivery order and cancelled it. This deck separates visible facts from usability hypotheses and shows the redesign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genuine public crops from one desktop browser journey. They establish the displayed UI, not shopper confusion or conversion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Observed: item 207 rupees, cash-on-delivery fee 7 rupees, total 214 rupees. Visibility of system status is the relevant heuristic. The fee is visible, so missed comprehension is a hypothesis, not a proven violation. Test by asking for the total and fee unaided.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screenshot shows cards, net banking, UPI scan and pay, and cash on delivery. The possible comprehension cost is a hypothesis. Nielsen's match with the real world and Hick's Law guide simpler labels and fee disclosure. No selection time was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cart crop shows item controls and promotion content. This can raise choice and pointer concerns, but a screenshot does not measure hesitation or missed clicks. Nielsen's minimalist design and flexibility heuristics, plus Hick's and Fitts's laws, motivate grouping and more consistent click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six rows summarize which Nielsen heuristic is relevant. None is presented as a verified user harm. Five observations come from the real journey; payment failure is a proposed scenario. Severity is expert judgement and must be checked through user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Priorities: cost comprehension and risk-led recovery first, then payment choice and editing, then target polish. Recruit five India-based desktop shoppers. Ask for the total and fee, a late edit, and recovery from a simulated failure. Measure unaided task completion, time, errors, missed clicks and confidence. No outcomes are claimed yet. Sources: original screenshots; Nielsen Norman Group heuristics; Interaction Design Foundation summaries of Hick's and Fitts's laws.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49377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7185"/>
                </a:solidFill>
                <a:latin typeface="Arial"/>
              </a:defRPr>
            </a:pPr>
            <a:r>
              <a:t>01  AMAZON INDIA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18520" cy="621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31921"/>
                </a:solidFill>
                <a:latin typeface="Arial"/>
              </a:defRPr>
            </a:pPr>
            <a:r>
              <a:t>What the checkout shows, and what I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80160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One checkout journey ? six heuristic concerns ? three UX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Kunal Mahurkar · Independent UX evaluation · 20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9648" y="6537960"/>
            <a:ext cx="70408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01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7185"/>
                </a:solidFill>
                <a:latin typeface="Arial"/>
              </a:defRPr>
            </a:pPr>
            <a:r>
              <a:t>REAL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04288"/>
            <a:ext cx="3886200" cy="10241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31921"/>
                </a:solidFill>
                <a:latin typeface="Arial"/>
              </a:defRPr>
            </a:pPr>
            <a:r>
              <a:t>Seven public screenshot crops from one checkout and cancellation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C45500"/>
                </a:solidFill>
                <a:latin typeface="Arial"/>
              </a:defRPr>
            </a:pPr>
            <a:r>
              <a:t>REDESIGN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79392"/>
            <a:ext cx="3886200" cy="10241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31921"/>
                </a:solidFill>
                <a:latin typeface="Arial"/>
              </a:defRPr>
            </a:pPr>
            <a:r>
              <a:t>Editable screen designs and a working checkout simulation</a:t>
            </a:r>
          </a:p>
        </p:txBody>
      </p:sp>
      <p:pic>
        <p:nvPicPr>
          <p:cNvPr id="11" name="Picture 10" descr="screen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822227"/>
            <a:ext cx="6281928" cy="35335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20640" y="5513832"/>
            <a:ext cx="6144768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4C575B"/>
                </a:solidFill>
                <a:latin typeface="Arial"/>
              </a:defRPr>
            </a:pPr>
            <a:r>
              <a:t>Proposed review screen. This is a concept, not an Amazon screen.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49377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7185"/>
                </a:solidFill>
                <a:latin typeface="Arial"/>
              </a:defRPr>
            </a:pPr>
            <a:r>
              <a:t>02  AMAZON INDIA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18520" cy="621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31921"/>
                </a:solidFill>
                <a:latin typeface="Arial"/>
              </a:defRPr>
            </a:pPr>
            <a:r>
              <a:t>Evidence: one observed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80160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Seven original crops. One cash-on-delivery order placed and cancelled immediately.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Kunal Mahurkar · Independent UX evaluation · 20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9648" y="6537960"/>
            <a:ext cx="70408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02 / 07</a:t>
            </a:r>
          </a:p>
        </p:txBody>
      </p:sp>
      <p:pic>
        <p:nvPicPr>
          <p:cNvPr id="7" name="Picture 6" descr="address-stage-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7567"/>
            <a:ext cx="3438144" cy="399784"/>
          </a:xfrm>
          <a:prstGeom prst="rect">
            <a:avLst/>
          </a:prstGeom>
        </p:spPr>
      </p:pic>
      <p:pic>
        <p:nvPicPr>
          <p:cNvPr id="8" name="Picture 7" descr="delivery-op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996518"/>
            <a:ext cx="3438144" cy="1932275"/>
          </a:xfrm>
          <a:prstGeom prst="rect">
            <a:avLst/>
          </a:prstGeom>
        </p:spPr>
      </p:pic>
      <p:pic>
        <p:nvPicPr>
          <p:cNvPr id="9" name="Picture 8" descr="cancellation-succ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712" y="2051436"/>
            <a:ext cx="3493008" cy="18224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088" y="4270248"/>
            <a:ext cx="3200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185"/>
                </a:solidFill>
                <a:latin typeface="Arial"/>
              </a:defRPr>
            </a:pPr>
            <a:r>
              <a:t>EV-02 ·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270248"/>
            <a:ext cx="3108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185"/>
                </a:solidFill>
                <a:latin typeface="Arial"/>
              </a:defRPr>
            </a:pPr>
            <a:r>
              <a:t>EV-04 ·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270248"/>
            <a:ext cx="3108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185"/>
                </a:solidFill>
                <a:latin typeface="Arial"/>
              </a:defRPr>
            </a:pPr>
            <a:r>
              <a:t>EV-07 · CANCELLATION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636008"/>
            <a:ext cx="3154680" cy="8412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0F1111"/>
                </a:solidFill>
                <a:latin typeface="Arial"/>
              </a:defRPr>
            </a:pPr>
            <a:r>
              <a:t>Address choices are indicated; personal rows are withheld.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636008"/>
            <a:ext cx="3108960" cy="8412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0F1111"/>
                </a:solidFill>
                <a:latin typeface="Arial"/>
              </a:defRPr>
            </a:pPr>
            <a:r>
              <a:t>Two delivery choices appear, both marked free.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636008"/>
            <a:ext cx="3108960" cy="8412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0F1111"/>
                </a:solidFill>
                <a:latin typeface="Arial"/>
              </a:defRPr>
            </a:pPr>
            <a:r>
              <a:t>Cancellation completed after the observed order.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824728"/>
            <a:ext cx="10744200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C45500"/>
                </a:solidFill>
                <a:latin typeface="Arial"/>
              </a:defRPr>
            </a:pPr>
            <a:r>
              <a:t>Evidence boundary: no participants, analytics baseline, or real payment failure were observed.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49377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7185"/>
                </a:solidFill>
                <a:latin typeface="Arial"/>
              </a:defRPr>
            </a:pPr>
            <a:r>
              <a:t>03  AMAZON INDIA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18520" cy="621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31921"/>
                </a:solidFill>
                <a:latin typeface="Arial"/>
              </a:defRPr>
            </a:pPr>
            <a:r>
              <a:t>01  Final cost may be easy to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80160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Nielsen #1: visibility of system status · Current fact versus design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Kunal Mahurkar · Independent UX evaluation · 20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9648" y="6537960"/>
            <a:ext cx="70408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03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47088"/>
            <a:ext cx="5010912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185"/>
                </a:solidFill>
                <a:latin typeface="Arial"/>
              </a:defRPr>
            </a:pPr>
            <a:r>
              <a:t>OBSERVED ON AMAZON · EV-05</a:t>
            </a:r>
          </a:p>
        </p:txBody>
      </p:sp>
      <p:pic>
        <p:nvPicPr>
          <p:cNvPr id="8" name="Picture 7" descr="review-to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38844"/>
            <a:ext cx="5193792" cy="13231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088" y="4416552"/>
            <a:ext cx="49834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1921"/>
                </a:solidFill>
                <a:latin typeface="Arial"/>
              </a:defRPr>
            </a:pPr>
            <a:r>
              <a:t>₹207 item + ₹7 COD fee = ₹214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809744"/>
            <a:ext cx="498348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The final amount is visible at review. Whether shoppers notice the fee before commitment is unmeasured.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1847088"/>
            <a:ext cx="5074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C45500"/>
                </a:solidFill>
                <a:latin typeface="Arial"/>
              </a:defRPr>
            </a:pPr>
            <a:r>
              <a:t>PROPOSED REVIEW</a:t>
            </a:r>
          </a:p>
        </p:txBody>
      </p:sp>
      <p:pic>
        <p:nvPicPr>
          <p:cNvPr id="12" name="Picture 11" descr="screen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772" y="2240280"/>
            <a:ext cx="4795520" cy="2697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5166360"/>
            <a:ext cx="4974336" cy="6675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0F1111"/>
                </a:solidFill>
                <a:latin typeface="Arial"/>
              </a:defRPr>
            </a:pPr>
            <a:r>
              <a:t>Itemized summary beside the decision; explicit total payable and Edit 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080760"/>
            <a:ext cx="1074420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07185"/>
                </a:solidFill>
                <a:latin typeface="Arial"/>
              </a:defRPr>
            </a:pPr>
            <a:r>
              <a:t>Test: ask shoppers to state the total and the reason for the extra ₹7 before clicking.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49377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7185"/>
                </a:solidFill>
                <a:latin typeface="Arial"/>
              </a:defRPr>
            </a:pPr>
            <a:r>
              <a:t>04  AMAZON INDIA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18520" cy="621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31921"/>
                </a:solidFill>
                <a:latin typeface="Arial"/>
              </a:defRPr>
            </a:pPr>
            <a:r>
              <a:t>02  Payment methods need cost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80160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Nielsen #2: match to familiar language · Hick's Law: decision effort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Kunal Mahurkar · Independent UX evaluation · 20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9648" y="6537960"/>
            <a:ext cx="70408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04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73936"/>
            <a:ext cx="5047488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185"/>
                </a:solidFill>
                <a:latin typeface="Arial"/>
              </a:defRPr>
            </a:pPr>
            <a:r>
              <a:t>OBSERVED ON AMAZON · EV-03</a:t>
            </a:r>
          </a:p>
        </p:txBody>
      </p:sp>
      <p:pic>
        <p:nvPicPr>
          <p:cNvPr id="8" name="Picture 7" descr="payment-meth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148" y="2103120"/>
            <a:ext cx="3960207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08776" y="1773936"/>
            <a:ext cx="5148072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C45500"/>
                </a:solidFill>
                <a:latin typeface="Arial"/>
              </a:defRPr>
            </a:pPr>
            <a:r>
              <a:t>PROPOSED PAYMENT DESIGN</a:t>
            </a:r>
          </a:p>
        </p:txBody>
      </p:sp>
      <p:pic>
        <p:nvPicPr>
          <p:cNvPr id="10" name="Picture 9" descr="screen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163699"/>
            <a:ext cx="5230368" cy="29420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468112"/>
            <a:ext cx="5093208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0F1111"/>
                </a:solidFill>
                <a:latin typeface="Arial"/>
              </a:defRPr>
            </a:pPr>
            <a:r>
              <a:t>Visible fact: multiple payment labels and an insufficient balance message.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5468112"/>
            <a:ext cx="5056632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0F1111"/>
                </a:solidFill>
                <a:latin typeface="Arial"/>
              </a:defRPr>
            </a:pPr>
            <a:r>
              <a:t>Change: group methods, use plain labels, and show the COD fee at selection.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08192"/>
            <a:ext cx="10680192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07185"/>
                </a:solidFill>
                <a:latin typeface="Arial"/>
              </a:defRPr>
            </a:pPr>
            <a:r>
              <a:t>Test: compare method comprehension and selection time; a current violation is unproven.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49377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7185"/>
                </a:solidFill>
                <a:latin typeface="Arial"/>
              </a:defRPr>
            </a:pPr>
            <a:r>
              <a:t>05  AMAZON INDIA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18520" cy="621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31921"/>
                </a:solidFill>
                <a:latin typeface="Arial"/>
              </a:defRPr>
            </a:pPr>
            <a:r>
              <a:t>03  Choices and controls compete for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80160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Nielsen #8 and #7 · Hick's Law and Fitts's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Kunal Mahurkar · Independent UX evaluation · 20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9648" y="6537960"/>
            <a:ext cx="70408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05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47488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185"/>
                </a:solidFill>
                <a:latin typeface="Arial"/>
              </a:defRPr>
            </a:pPr>
            <a:r>
              <a:t>OBSERVED CART · EV-01</a:t>
            </a:r>
          </a:p>
        </p:txBody>
      </p:sp>
      <p:pic>
        <p:nvPicPr>
          <p:cNvPr id="8" name="Picture 7" descr="cart-ite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207425"/>
            <a:ext cx="5193792" cy="24157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1783080"/>
            <a:ext cx="502005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C45500"/>
                </a:solidFill>
                <a:latin typeface="Arial"/>
              </a:defRPr>
            </a:pPr>
            <a:r>
              <a:t>PROPOSED CART</a:t>
            </a:r>
          </a:p>
        </p:txBody>
      </p:sp>
      <p:pic>
        <p:nvPicPr>
          <p:cNvPr id="10" name="Picture 9" descr="screen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616" y="2112264"/>
            <a:ext cx="4632960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" y="4983480"/>
            <a:ext cx="5010912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1921"/>
                </a:solidFill>
                <a:latin typeface="Arial"/>
              </a:defRPr>
            </a:pPr>
            <a:r>
              <a:t>Hypothesis: competing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376672"/>
            <a:ext cx="5010912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Promotion content and quantity control share the cart view. Decision effort has not been timed.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4983480"/>
            <a:ext cx="4992624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1921"/>
                </a:solidFill>
                <a:latin typeface="Arial"/>
              </a:defRPr>
            </a:pPr>
            <a:r>
              <a:t>Change: clearer action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5376672"/>
            <a:ext cx="4992624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Keep quantity and continue actions prominent, with larger consistent click areas.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49377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7185"/>
                </a:solidFill>
                <a:latin typeface="Arial"/>
              </a:defRPr>
            </a:pPr>
            <a:r>
              <a:t>06  AMAZON INDIA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18520" cy="621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31921"/>
                </a:solidFill>
                <a:latin typeface="Arial"/>
              </a:defRPr>
            </a:pPr>
            <a:r>
              <a:t>Heuristic map: observation, risk,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80160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A heuristic concern is an expert assessment. A user impact requires a user study.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Kunal Mahurkar · Independent UX evaluation · 20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9648" y="6537960"/>
            <a:ext cx="70408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06 / 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883664"/>
          <a:ext cx="1097280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384"/>
                <a:gridCol w="2889504"/>
                <a:gridCol w="2889504"/>
                <a:gridCol w="3264408"/>
              </a:tblGrid>
              <a:tr h="5329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Heuristic</a:t>
                      </a:r>
                    </a:p>
                  </a:txBody>
                  <a:tcPr marL="118872" marR="82296" marT="91440" marB="54864">
                    <a:solidFill>
                      <a:srgbClr val="1319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Observed</a:t>
                      </a:r>
                    </a:p>
                  </a:txBody>
                  <a:tcPr marL="118872" marR="82296" marT="91440" marB="54864">
                    <a:solidFill>
                      <a:srgbClr val="1319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or limit</a:t>
                      </a:r>
                    </a:p>
                  </a:txBody>
                  <a:tcPr marL="118872" marR="82296" marT="91440" marB="54864">
                    <a:solidFill>
                      <a:srgbClr val="1319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Proposed change</a:t>
                      </a:r>
                    </a:p>
                  </a:txBody>
                  <a:tcPr marL="118872" marR="82296" marT="91440" marB="54864">
                    <a:solidFill>
                      <a:srgbClr val="131921"/>
                    </a:solidFill>
                  </a:tcPr>
                </a:tc>
              </a:tr>
              <a:tr h="5329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#1 Visibility</a:t>
                      </a:r>
                    </a:p>
                  </a:txBody>
                  <a:tcPr marL="118872" marR="82296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₹7 COD fee and ₹214 total visible</a:t>
                      </a:r>
                    </a:p>
                  </a:txBody>
                  <a:tcPr marL="118872" marR="82296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Fee comprehension unknown</a:t>
                      </a:r>
                    </a:p>
                  </a:txBody>
                  <a:tcPr marL="118872" marR="82296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Persistent itemized total</a:t>
                      </a:r>
                    </a:p>
                  </a:txBody>
                  <a:tcPr marL="118872" marR="82296" marT="91440" marB="54864">
                    <a:solidFill>
                      <a:srgbClr val="FFFFFF"/>
                    </a:solidFill>
                  </a:tcPr>
                </a:tc>
              </a:tr>
              <a:tr h="5329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#2 Real-world match</a:t>
                      </a:r>
                    </a:p>
                  </a:txBody>
                  <a:tcPr marL="118872" marR="82296" marT="91440" marB="54864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Several payment labels shown</a:t>
                      </a:r>
                    </a:p>
                  </a:txBody>
                  <a:tcPr marL="118872" marR="82296" marT="91440" marB="54864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Meaning or fee may need context</a:t>
                      </a:r>
                    </a:p>
                  </a:txBody>
                  <a:tcPr marL="118872" marR="82296" marT="91440" marB="54864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Plain labels and fee at choice</a:t>
                      </a:r>
                    </a:p>
                  </a:txBody>
                  <a:tcPr marL="118872" marR="82296" marT="91440" marB="54864">
                    <a:solidFill>
                      <a:srgbClr val="F7F8F8"/>
                    </a:solidFill>
                  </a:tcPr>
                </a:tc>
              </a:tr>
              <a:tr h="5329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#3 User control</a:t>
                      </a:r>
                    </a:p>
                  </a:txBody>
                  <a:tcPr marL="118872" marR="82296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Change links observed at review</a:t>
                      </a:r>
                    </a:p>
                  </a:txBody>
                  <a:tcPr marL="118872" marR="82296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Rework not established</a:t>
                      </a:r>
                    </a:p>
                  </a:txBody>
                  <a:tcPr marL="118872" marR="82296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Direct Edit, retained choices</a:t>
                      </a:r>
                    </a:p>
                  </a:txBody>
                  <a:tcPr marL="118872" marR="82296" marT="91440" marB="54864">
                    <a:solidFill>
                      <a:srgbClr val="FFFFFF"/>
                    </a:solidFill>
                  </a:tcPr>
                </a:tc>
              </a:tr>
              <a:tr h="5329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#7 Efficiency</a:t>
                      </a:r>
                    </a:p>
                  </a:txBody>
                  <a:tcPr marL="118872" marR="82296" marT="91440" marB="54864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Quantity and Change controls visible</a:t>
                      </a:r>
                    </a:p>
                  </a:txBody>
                  <a:tcPr marL="118872" marR="82296" marT="91440" marB="54864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Pointer misses unmeasured</a:t>
                      </a:r>
                    </a:p>
                  </a:txBody>
                  <a:tcPr marL="118872" marR="82296" marT="91440" marB="54864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Consistent click targets</a:t>
                      </a:r>
                    </a:p>
                  </a:txBody>
                  <a:tcPr marL="118872" marR="82296" marT="91440" marB="54864">
                    <a:solidFill>
                      <a:srgbClr val="F7F8F8"/>
                    </a:solidFill>
                  </a:tcPr>
                </a:tc>
              </a:tr>
              <a:tr h="5329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#8 Minimalism</a:t>
                      </a:r>
                    </a:p>
                  </a:txBody>
                  <a:tcPr marL="118872" marR="82296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Promotions and choices share view</a:t>
                      </a:r>
                    </a:p>
                  </a:txBody>
                  <a:tcPr marL="118872" marR="82296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Decision effort unmeasured</a:t>
                      </a:r>
                    </a:p>
                  </a:txBody>
                  <a:tcPr marL="118872" marR="82296" marT="91440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Clearer hierarchy</a:t>
                      </a:r>
                    </a:p>
                  </a:txBody>
                  <a:tcPr marL="118872" marR="82296" marT="91440" marB="54864">
                    <a:solidFill>
                      <a:srgbClr val="FFFFFF"/>
                    </a:solidFill>
                  </a:tcPr>
                </a:tc>
              </a:tr>
              <a:tr h="5329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#9 Error recovery</a:t>
                      </a:r>
                    </a:p>
                  </a:txBody>
                  <a:tcPr marL="118872" marR="82296" marT="91440" marB="54864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No failure captured</a:t>
                      </a:r>
                    </a:p>
                  </a:txBody>
                  <a:tcPr marL="118872" marR="82296" marT="91440" marB="54864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Scenario only</a:t>
                      </a:r>
                    </a:p>
                  </a:txBody>
                  <a:tcPr marL="118872" marR="82296" marT="91440" marB="54864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111"/>
                          </a:solidFill>
                          <a:latin typeface="Arial"/>
                        </a:defRPr>
                      </a:pPr>
                      <a:r>
                        <a:t>Explicit status and safe retry</a:t>
                      </a:r>
                    </a:p>
                  </a:txBody>
                  <a:tcPr marL="118872" marR="82296" marT="91440" marB="54864"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70448"/>
            <a:ext cx="108356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C45500"/>
                </a:solidFill>
                <a:latin typeface="Arial"/>
              </a:defRPr>
            </a:pPr>
            <a:r>
              <a:t>Hick: group choices ? Fitts: enlarge targets ? Jakob: familiar edits. All impacts await testing.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49377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7185"/>
                </a:solidFill>
                <a:latin typeface="Arial"/>
              </a:defRPr>
            </a:pPr>
            <a:r>
              <a:t>07  AMAZON INDIA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18520" cy="621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31921"/>
                </a:solidFill>
                <a:latin typeface="Arial"/>
              </a:defRPr>
            </a:pPr>
            <a:r>
              <a:t>Next step: test the proposed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80160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Priority reflects expert judgement. No usability sessions or outcome metrics have been measured.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9601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Kunal Mahurkar · Independent UX evaluation · 20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9648" y="6537960"/>
            <a:ext cx="70408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4C575B"/>
                </a:solidFill>
                <a:latin typeface="Arial"/>
              </a:defRPr>
            </a:pPr>
            <a:r>
              <a:t>07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56231"/>
            <a:ext cx="5038344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1921"/>
                </a:solidFill>
                <a:latin typeface="Arial"/>
              </a:defRPr>
            </a:pPr>
            <a:r>
              <a:t>P1 · Total and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49424"/>
            <a:ext cx="5038344" cy="7680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Ask shoppers to state the amount payable and explain the COD fee before placing an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1856231"/>
            <a:ext cx="4974336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1921"/>
                </a:solidFill>
                <a:latin typeface="Arial"/>
              </a:defRPr>
            </a:pPr>
            <a:r>
              <a:t>P1 discovery · Failure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2249424"/>
            <a:ext cx="4974336" cy="7680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Use a controlled simulated failure. Check whether shoppers understand payment status and recover safely.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328416"/>
            <a:ext cx="5038344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1921"/>
                </a:solidFill>
                <a:latin typeface="Arial"/>
              </a:defRPr>
            </a:pPr>
            <a:r>
              <a:t>P2 · Payment and editing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721608"/>
            <a:ext cx="5038344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Compare method comprehension and late-edit success without prompting.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3328416"/>
            <a:ext cx="4974336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1921"/>
                </a:solidFill>
                <a:latin typeface="Arial"/>
              </a:defRPr>
            </a:pPr>
            <a:r>
              <a:t>P3 · Pointer 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3721608"/>
            <a:ext cx="4974336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C575B"/>
                </a:solidFill>
                <a:latin typeface="Arial"/>
              </a:defRPr>
            </a:pPr>
            <a:r>
              <a:t>Measure target sizes and missed clicks during desktop tasks.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919472"/>
            <a:ext cx="10671048" cy="5394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1921"/>
                </a:solidFill>
                <a:latin typeface="Arial"/>
              </a:defRPr>
            </a:pPr>
            <a:r>
              <a:t>Measures: correct total and fee, unaided task success, time, errors, recovery success, confidence.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6509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4C575B"/>
                </a:solidFill>
                <a:latin typeface="Arial"/>
              </a:defRPr>
            </a:pPr>
            <a:r>
              <a:t>References: nngroup.com/articles/ten-usability-heuristics/ · interaction-design.org/literature/topics/hick-s-law · interaction-design.org/literature/topics/fitts-law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