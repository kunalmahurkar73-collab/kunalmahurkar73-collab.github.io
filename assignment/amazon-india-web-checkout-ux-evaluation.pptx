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desktop web in Edge, captured 20 October 2026. Independent educational UX case study; not affiliated with Amazon. Objective: document the visible path and test redesign hypotheses. Prototype: https://kunalmahurkar.is-a.dev/amazon-checkout-prototype/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persona is an assumption, not an interviewed participant. The journey reflects browser captures from 20 October 2026. The six saved addresses were visible by count, but personal address information was withheld from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screenshots: evidence/cart-item.jpg, evidence/payment-methods.jpg, evidence/review-total.jpg, evidence/order-confirmation.jpg and evidence/cancellation-success.jpg. All were captured from the signed-in desktop web flow on 20 October 2026. Public crops exclude personal account information. Display copies of payment, review and cancellation remove cursor artifacts only; originals remain in the evidence folder. Screenshot evidence establishes visible states, not participant friction.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six candidate usability issues are hypotheses. Provisional severity is a risk ranking, not a validated defect rating. UX-01 is grounded in the observed ₹7 cash-on-delivery fee at review; whether it confused users is untested. UX-05 has no original payment-failure screenshot. See the case study for original evidence and full rationale.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Hick's Law: complex choice sets can lengthen decision time; linked to UX-02. Fitts's Law: target acquisition depends on size and distance; linked to UX-06. Jakob's Law: familiar conventions shape expectation; linked to UX-03. None of these law violations has been established for Amazon by the screenshots alone.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is the genuine Amazon India review crop, evidence/review-total.jpg. After is a design concept, not an Amazon screen. The concept emphasizes a single itemized total, contextual Edit controls and safe payment retry. Prototype: https://kunalmahurkar.is-a.dev/amazon-checkout-prototype/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 payment recovery is a risk hypothesis; no original failure was observed. P1 cost clarity is based on visible fee presentation, but comprehension is unmeasured. P2 covers editing and choice grouping. P3 covers click target polish. Five India-based desktop shoppers should try the simulated checkout. Track completion, abandonment, time, clicks, recovery and reported clarity. All baselines are not measured. Prototype and full case: https://kunalmahurkar.is-a.dev/case-amazon-checkout.html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jpg"/><Relationship Id="rId7"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ectangle 1"/>
          <p:cNvSpPr/>
          <p:nvPr/>
        </p:nvSpPr>
        <p:spPr>
          <a:xfrm>
            <a:off x="502920" y="393192"/>
            <a:ext cx="91440" cy="310896"/>
          </a:xfrm>
          <a:prstGeom prst="rect">
            <a:avLst/>
          </a:prstGeom>
          <a:solidFill>
            <a:srgbClr val="E37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310896"/>
            <a:ext cx="10789920" cy="640080"/>
          </a:xfrm>
          <a:prstGeom prst="rect">
            <a:avLst/>
          </a:prstGeom>
          <a:noFill/>
        </p:spPr>
        <p:txBody>
          <a:bodyPr wrap="square" lIns="18288" rIns="18288" tIns="18288" bIns="18288">
            <a:spAutoFit/>
          </a:bodyPr>
          <a:lstStyle/>
          <a:p>
            <a:pPr>
              <a:spcAft>
                <a:spcPts val="500"/>
              </a:spcAft>
              <a:defRPr sz="2900" b="1">
                <a:solidFill>
                  <a:srgbClr val="1B222B"/>
                </a:solidFill>
                <a:latin typeface="Aptos"/>
              </a:defRPr>
            </a:pPr>
            <a:r>
              <a:t>Amazon India web checkout</a:t>
            </a:r>
          </a:p>
        </p:txBody>
      </p:sp>
      <p:sp>
        <p:nvSpPr>
          <p:cNvPr id="4" name="Rectangle 3"/>
          <p:cNvSpPr/>
          <p:nvPr/>
        </p:nvSpPr>
        <p:spPr>
          <a:xfrm>
            <a:off x="594360" y="6492240"/>
            <a:ext cx="11018520" cy="10972"/>
          </a:xfrm>
          <a:prstGeom prst="rect">
            <a:avLst/>
          </a:prstGeom>
          <a:solidFill>
            <a:srgbClr val="DA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556248"/>
            <a:ext cx="9875520" cy="182880"/>
          </a:xfrm>
          <a:prstGeom prst="rect">
            <a:avLst/>
          </a:prstGeom>
          <a:noFill/>
        </p:spPr>
        <p:txBody>
          <a:bodyPr wrap="square" lIns="18288" rIns="18288" tIns="18288" bIns="18288">
            <a:spAutoFit/>
          </a:bodyPr>
          <a:lstStyle/>
          <a:p>
            <a:pPr>
              <a:spcAft>
                <a:spcPts val="500"/>
              </a:spcAft>
              <a:defRPr sz="800" b="0">
                <a:solidFill>
                  <a:srgbClr val="56606B"/>
                </a:solidFill>
                <a:latin typeface="Aptos"/>
              </a:defRPr>
            </a:pPr>
            <a:r>
              <a:t>AMAZON INDIA WEB CHECKOUT  /  INDEPENDENT EDUCATIONAL STUDY</a:t>
            </a:r>
          </a:p>
        </p:txBody>
      </p:sp>
      <p:sp>
        <p:nvSpPr>
          <p:cNvPr id="6" name="TextBox 5"/>
          <p:cNvSpPr txBox="1"/>
          <p:nvPr/>
        </p:nvSpPr>
        <p:spPr>
          <a:xfrm>
            <a:off x="10652760" y="6547104"/>
            <a:ext cx="868680" cy="182880"/>
          </a:xfrm>
          <a:prstGeom prst="rect">
            <a:avLst/>
          </a:prstGeom>
          <a:noFill/>
        </p:spPr>
        <p:txBody>
          <a:bodyPr wrap="square" lIns="18288" rIns="18288" tIns="18288" bIns="18288">
            <a:spAutoFit/>
          </a:bodyPr>
          <a:lstStyle/>
          <a:p>
            <a:pPr algn="r">
              <a:spcAft>
                <a:spcPts val="500"/>
              </a:spcAft>
              <a:defRPr sz="800" b="0">
                <a:solidFill>
                  <a:srgbClr val="56606B"/>
                </a:solidFill>
                <a:latin typeface="Aptos"/>
              </a:defRPr>
            </a:pPr>
            <a:r>
              <a:t>01 / 07</a:t>
            </a:r>
          </a:p>
        </p:txBody>
      </p:sp>
      <p:sp>
        <p:nvSpPr>
          <p:cNvPr id="7" name="TextBox 6"/>
          <p:cNvSpPr txBox="1"/>
          <p:nvPr/>
        </p:nvSpPr>
        <p:spPr>
          <a:xfrm>
            <a:off x="731520" y="1417320"/>
            <a:ext cx="6583680" cy="640080"/>
          </a:xfrm>
          <a:prstGeom prst="rect">
            <a:avLst/>
          </a:prstGeom>
          <a:noFill/>
        </p:spPr>
        <p:txBody>
          <a:bodyPr wrap="square" lIns="18288" rIns="18288" tIns="18288" bIns="18288">
            <a:spAutoFit/>
          </a:bodyPr>
          <a:lstStyle/>
          <a:p>
            <a:pPr>
              <a:spcAft>
                <a:spcPts val="500"/>
              </a:spcAft>
              <a:defRPr sz="3700" b="1">
                <a:solidFill>
                  <a:srgbClr val="1B222B"/>
                </a:solidFill>
                <a:latin typeface="Aptos"/>
              </a:defRPr>
            </a:pPr>
            <a:r>
              <a:t>UX evaluation &amp; redesign</a:t>
            </a:r>
          </a:p>
        </p:txBody>
      </p:sp>
      <p:sp>
        <p:nvSpPr>
          <p:cNvPr id="8" name="TextBox 7"/>
          <p:cNvSpPr txBox="1"/>
          <p:nvPr/>
        </p:nvSpPr>
        <p:spPr>
          <a:xfrm>
            <a:off x="749808" y="2212848"/>
            <a:ext cx="6858000" cy="658368"/>
          </a:xfrm>
          <a:prstGeom prst="rect">
            <a:avLst/>
          </a:prstGeom>
          <a:noFill/>
        </p:spPr>
        <p:txBody>
          <a:bodyPr wrap="square" lIns="18288" rIns="18288" tIns="18288" bIns="18288">
            <a:spAutoFit/>
          </a:bodyPr>
          <a:lstStyle/>
          <a:p>
            <a:pPr>
              <a:spcAft>
                <a:spcPts val="500"/>
              </a:spcAft>
              <a:defRPr sz="2300" b="0">
                <a:solidFill>
                  <a:srgbClr val="56606B"/>
                </a:solidFill>
                <a:latin typeface="Aptos"/>
              </a:defRPr>
            </a:pPr>
            <a:r>
              <a:t>Cart → delivery → payment → review → confirmation → cancellation</a:t>
            </a:r>
          </a:p>
        </p:txBody>
      </p:sp>
      <p:sp>
        <p:nvSpPr>
          <p:cNvPr id="9" name="Rounded Rectangle 8"/>
          <p:cNvSpPr/>
          <p:nvPr/>
        </p:nvSpPr>
        <p:spPr>
          <a:xfrm>
            <a:off x="749808" y="3218688"/>
            <a:ext cx="6400800" cy="1207008"/>
          </a:xfrm>
          <a:prstGeom prst="roundRect">
            <a:avLst/>
          </a:prstGeom>
          <a:solidFill>
            <a:srgbClr val="FFFFFF"/>
          </a:solidFill>
          <a:ln>
            <a:solidFill>
              <a:srgbClr val="DA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3410712"/>
            <a:ext cx="2011680" cy="329184"/>
          </a:xfrm>
          <a:prstGeom prst="rect">
            <a:avLst/>
          </a:prstGeom>
          <a:noFill/>
        </p:spPr>
        <p:txBody>
          <a:bodyPr wrap="square" lIns="18288" rIns="18288" tIns="18288" bIns="18288">
            <a:spAutoFit/>
          </a:bodyPr>
          <a:lstStyle/>
          <a:p>
            <a:pPr>
              <a:spcAft>
                <a:spcPts val="500"/>
              </a:spcAft>
              <a:defRPr sz="1700" b="1">
                <a:solidFill>
                  <a:srgbClr val="E37023"/>
                </a:solidFill>
                <a:latin typeface="Aptos"/>
              </a:defRPr>
            </a:pPr>
            <a:r>
              <a:t>Objective</a:t>
            </a:r>
          </a:p>
        </p:txBody>
      </p:sp>
      <p:sp>
        <p:nvSpPr>
          <p:cNvPr id="11" name="TextBox 10"/>
          <p:cNvSpPr txBox="1"/>
          <p:nvPr/>
        </p:nvSpPr>
        <p:spPr>
          <a:xfrm>
            <a:off x="1033271" y="3703320"/>
            <a:ext cx="5715000" cy="566928"/>
          </a:xfrm>
          <a:prstGeom prst="rect">
            <a:avLst/>
          </a:prstGeom>
          <a:noFill/>
        </p:spPr>
        <p:txBody>
          <a:bodyPr wrap="square" lIns="18288" rIns="18288" tIns="18288" bIns="18288">
            <a:spAutoFit/>
          </a:bodyPr>
          <a:lstStyle/>
          <a:p>
            <a:pPr>
              <a:spcAft>
                <a:spcPts val="500"/>
              </a:spcAft>
              <a:defRPr sz="1800" b="0">
                <a:solidFill>
                  <a:srgbClr val="1B222B"/>
                </a:solidFill>
                <a:latin typeface="Aptos"/>
              </a:defRPr>
            </a:pPr>
            <a:r>
              <a:t>Make the final cost, choices, editing and recovery easier to understand, then validate with shoppers.</a:t>
            </a:r>
          </a:p>
        </p:txBody>
      </p:sp>
      <p:pic>
        <p:nvPicPr>
          <p:cNvPr id="12" name="Picture 11" descr="cart-item.jpg"/>
          <p:cNvPicPr>
            <a:picLocks noChangeAspect="1"/>
          </p:cNvPicPr>
          <p:nvPr/>
        </p:nvPicPr>
        <p:blipFill>
          <a:blip r:embed="rId3"/>
          <a:stretch>
            <a:fillRect/>
          </a:stretch>
        </p:blipFill>
        <p:spPr>
          <a:xfrm>
            <a:off x="7726679" y="1353312"/>
            <a:ext cx="3657600" cy="1701209"/>
          </a:xfrm>
          <a:prstGeom prst="rect">
            <a:avLst/>
          </a:prstGeom>
        </p:spPr>
      </p:pic>
      <p:sp>
        <p:nvSpPr>
          <p:cNvPr id="13" name="TextBox 12"/>
          <p:cNvSpPr txBox="1"/>
          <p:nvPr/>
        </p:nvSpPr>
        <p:spPr>
          <a:xfrm>
            <a:off x="7735824" y="4526280"/>
            <a:ext cx="3566160" cy="914400"/>
          </a:xfrm>
          <a:prstGeom prst="rect">
            <a:avLst/>
          </a:prstGeom>
          <a:noFill/>
        </p:spPr>
        <p:txBody>
          <a:bodyPr wrap="square" lIns="18288" rIns="18288" tIns="18288" bIns="18288">
            <a:spAutoFit/>
          </a:bodyPr>
          <a:lstStyle/>
          <a:p>
            <a:pPr>
              <a:spcAft>
                <a:spcPts val="500"/>
              </a:spcAft>
              <a:defRPr sz="1700" b="0">
                <a:solidFill>
                  <a:srgbClr val="56606B"/>
                </a:solidFill>
                <a:latin typeface="Aptos"/>
              </a:defRPr>
            </a:pPr>
            <a:r>
              <a:t>7 genuine desktop captures  •  1 placed and cancelled COD order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ectangle 1"/>
          <p:cNvSpPr/>
          <p:nvPr/>
        </p:nvSpPr>
        <p:spPr>
          <a:xfrm>
            <a:off x="502920" y="393192"/>
            <a:ext cx="91440" cy="310896"/>
          </a:xfrm>
          <a:prstGeom prst="rect">
            <a:avLst/>
          </a:prstGeom>
          <a:solidFill>
            <a:srgbClr val="E37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310896"/>
            <a:ext cx="10789920" cy="640080"/>
          </a:xfrm>
          <a:prstGeom prst="rect">
            <a:avLst/>
          </a:prstGeom>
          <a:noFill/>
        </p:spPr>
        <p:txBody>
          <a:bodyPr wrap="square" lIns="18288" rIns="18288" tIns="18288" bIns="18288">
            <a:spAutoFit/>
          </a:bodyPr>
          <a:lstStyle/>
          <a:p>
            <a:pPr>
              <a:spcAft>
                <a:spcPts val="500"/>
              </a:spcAft>
              <a:defRPr sz="2900" b="1">
                <a:solidFill>
                  <a:srgbClr val="1B222B"/>
                </a:solidFill>
                <a:latin typeface="Aptos"/>
              </a:defRPr>
            </a:pPr>
            <a:r>
              <a:t>User and checkout journey</a:t>
            </a:r>
          </a:p>
        </p:txBody>
      </p:sp>
      <p:sp>
        <p:nvSpPr>
          <p:cNvPr id="4" name="Rectangle 3"/>
          <p:cNvSpPr/>
          <p:nvPr/>
        </p:nvSpPr>
        <p:spPr>
          <a:xfrm>
            <a:off x="594360" y="6492240"/>
            <a:ext cx="11018520" cy="10972"/>
          </a:xfrm>
          <a:prstGeom prst="rect">
            <a:avLst/>
          </a:prstGeom>
          <a:solidFill>
            <a:srgbClr val="DA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556248"/>
            <a:ext cx="9875520" cy="182880"/>
          </a:xfrm>
          <a:prstGeom prst="rect">
            <a:avLst/>
          </a:prstGeom>
          <a:noFill/>
        </p:spPr>
        <p:txBody>
          <a:bodyPr wrap="square" lIns="18288" rIns="18288" tIns="18288" bIns="18288">
            <a:spAutoFit/>
          </a:bodyPr>
          <a:lstStyle/>
          <a:p>
            <a:pPr>
              <a:spcAft>
                <a:spcPts val="500"/>
              </a:spcAft>
              <a:defRPr sz="800" b="0">
                <a:solidFill>
                  <a:srgbClr val="56606B"/>
                </a:solidFill>
                <a:latin typeface="Aptos"/>
              </a:defRPr>
            </a:pPr>
            <a:r>
              <a:t>AMAZON INDIA WEB CHECKOUT  /  INDEPENDENT EDUCATIONAL STUDY</a:t>
            </a:r>
          </a:p>
        </p:txBody>
      </p:sp>
      <p:sp>
        <p:nvSpPr>
          <p:cNvPr id="6" name="TextBox 5"/>
          <p:cNvSpPr txBox="1"/>
          <p:nvPr/>
        </p:nvSpPr>
        <p:spPr>
          <a:xfrm>
            <a:off x="10652760" y="6547104"/>
            <a:ext cx="868680" cy="182880"/>
          </a:xfrm>
          <a:prstGeom prst="rect">
            <a:avLst/>
          </a:prstGeom>
          <a:noFill/>
        </p:spPr>
        <p:txBody>
          <a:bodyPr wrap="square" lIns="18288" rIns="18288" tIns="18288" bIns="18288">
            <a:spAutoFit/>
          </a:bodyPr>
          <a:lstStyle/>
          <a:p>
            <a:pPr algn="r">
              <a:spcAft>
                <a:spcPts val="500"/>
              </a:spcAft>
              <a:defRPr sz="800" b="0">
                <a:solidFill>
                  <a:srgbClr val="56606B"/>
                </a:solidFill>
                <a:latin typeface="Aptos"/>
              </a:defRPr>
            </a:pPr>
            <a:r>
              <a:t>02 / 07</a:t>
            </a:r>
          </a:p>
        </p:txBody>
      </p:sp>
      <p:sp>
        <p:nvSpPr>
          <p:cNvPr id="7" name="TextBox 6"/>
          <p:cNvSpPr txBox="1"/>
          <p:nvPr/>
        </p:nvSpPr>
        <p:spPr>
          <a:xfrm>
            <a:off x="749808" y="1115568"/>
            <a:ext cx="3749039" cy="365760"/>
          </a:xfrm>
          <a:prstGeom prst="rect">
            <a:avLst/>
          </a:prstGeom>
          <a:noFill/>
        </p:spPr>
        <p:txBody>
          <a:bodyPr wrap="square" lIns="18288" rIns="18288" tIns="18288" bIns="18288">
            <a:spAutoFit/>
          </a:bodyPr>
          <a:lstStyle/>
          <a:p>
            <a:pPr>
              <a:spcAft>
                <a:spcPts val="500"/>
              </a:spcAft>
              <a:defRPr sz="1900" b="1">
                <a:solidFill>
                  <a:srgbClr val="E37023"/>
                </a:solidFill>
                <a:latin typeface="Aptos"/>
              </a:defRPr>
            </a:pPr>
            <a:r>
              <a:t>Assumption-based persona</a:t>
            </a:r>
          </a:p>
        </p:txBody>
      </p:sp>
      <p:sp>
        <p:nvSpPr>
          <p:cNvPr id="8" name="TextBox 7"/>
          <p:cNvSpPr txBox="1"/>
          <p:nvPr/>
        </p:nvSpPr>
        <p:spPr>
          <a:xfrm>
            <a:off x="749808" y="1527048"/>
            <a:ext cx="3931920" cy="1389888"/>
          </a:xfrm>
          <a:prstGeom prst="rect">
            <a:avLst/>
          </a:prstGeom>
          <a:noFill/>
        </p:spPr>
        <p:txBody>
          <a:bodyPr wrap="square" lIns="18288" rIns="18288" tIns="18288" bIns="18288">
            <a:spAutoFit/>
          </a:bodyPr>
          <a:lstStyle/>
          <a:p>
            <a:pPr>
              <a:spcAft>
                <a:spcPts val="500"/>
              </a:spcAft>
              <a:defRPr sz="2200" b="0">
                <a:solidFill>
                  <a:srgbClr val="1B222B"/>
                </a:solidFill>
                <a:latin typeface="Aptos"/>
              </a:defRPr>
            </a:pPr>
            <a:r>
              <a:t>An India-based desktop shopper who wants to confirm the payable amount, choose delivery and payment, and know whether the order succeeded.</a:t>
            </a:r>
          </a:p>
        </p:txBody>
      </p:sp>
      <p:sp>
        <p:nvSpPr>
          <p:cNvPr id="9" name="TextBox 8"/>
          <p:cNvSpPr txBox="1"/>
          <p:nvPr/>
        </p:nvSpPr>
        <p:spPr>
          <a:xfrm>
            <a:off x="749808" y="3346704"/>
            <a:ext cx="3749039" cy="365760"/>
          </a:xfrm>
          <a:prstGeom prst="rect">
            <a:avLst/>
          </a:prstGeom>
          <a:noFill/>
        </p:spPr>
        <p:txBody>
          <a:bodyPr wrap="square" lIns="18288" rIns="18288" tIns="18288" bIns="18288">
            <a:spAutoFit/>
          </a:bodyPr>
          <a:lstStyle/>
          <a:p>
            <a:pPr>
              <a:spcAft>
                <a:spcPts val="500"/>
              </a:spcAft>
              <a:defRPr sz="1800" b="1">
                <a:solidFill>
                  <a:srgbClr val="E37023"/>
                </a:solidFill>
                <a:latin typeface="Aptos"/>
              </a:defRPr>
            </a:pPr>
            <a:r>
              <a:t>Context</a:t>
            </a:r>
          </a:p>
        </p:txBody>
      </p:sp>
      <p:sp>
        <p:nvSpPr>
          <p:cNvPr id="10" name="TextBox 9"/>
          <p:cNvSpPr txBox="1"/>
          <p:nvPr/>
        </p:nvSpPr>
        <p:spPr>
          <a:xfrm>
            <a:off x="749808" y="3767328"/>
            <a:ext cx="3840480" cy="1097280"/>
          </a:xfrm>
          <a:prstGeom prst="rect">
            <a:avLst/>
          </a:prstGeom>
          <a:noFill/>
        </p:spPr>
        <p:txBody>
          <a:bodyPr wrap="square" lIns="18288" rIns="18288" tIns="18288" bIns="18288">
            <a:spAutoFit/>
          </a:bodyPr>
          <a:lstStyle/>
          <a:p>
            <a:pPr>
              <a:spcAft>
                <a:spcPts val="500"/>
              </a:spcAft>
              <a:defRPr sz="2000" b="0">
                <a:solidFill>
                  <a:srgbClr val="1B222B"/>
                </a:solidFill>
                <a:latin typeface="Aptos"/>
              </a:defRPr>
            </a:pPr>
            <a:r>
              <a:t>Signed-in Amazon India web checkout; a ₹207 book, cash on delivery, ₹7 fee, ₹214 final total.</a:t>
            </a:r>
          </a:p>
        </p:txBody>
      </p:sp>
      <p:sp>
        <p:nvSpPr>
          <p:cNvPr id="11" name="Rounded Rectangle 10"/>
          <p:cNvSpPr/>
          <p:nvPr/>
        </p:nvSpPr>
        <p:spPr>
          <a:xfrm>
            <a:off x="5230368" y="1115568"/>
            <a:ext cx="6080760" cy="658368"/>
          </a:xfrm>
          <a:prstGeom prst="roundRect">
            <a:avLst/>
          </a:prstGeom>
          <a:solidFill>
            <a:srgbClr val="FFFFFF"/>
          </a:solidFill>
          <a:ln>
            <a:solidFill>
              <a:srgbClr val="DA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1271016"/>
            <a:ext cx="420624" cy="274320"/>
          </a:xfrm>
          <a:prstGeom prst="rect">
            <a:avLst/>
          </a:prstGeom>
          <a:noFill/>
        </p:spPr>
        <p:txBody>
          <a:bodyPr wrap="square" lIns="18288" rIns="18288" tIns="18288" bIns="18288">
            <a:spAutoFit/>
          </a:bodyPr>
          <a:lstStyle/>
          <a:p>
            <a:pPr>
              <a:spcAft>
                <a:spcPts val="500"/>
              </a:spcAft>
              <a:defRPr sz="1300" b="1">
                <a:solidFill>
                  <a:srgbClr val="E37023"/>
                </a:solidFill>
                <a:latin typeface="Aptos"/>
              </a:defRPr>
            </a:pPr>
            <a:r>
              <a:t>01</a:t>
            </a:r>
          </a:p>
        </p:txBody>
      </p:sp>
      <p:sp>
        <p:nvSpPr>
          <p:cNvPr id="13" name="TextBox 12"/>
          <p:cNvSpPr txBox="1"/>
          <p:nvPr/>
        </p:nvSpPr>
        <p:spPr>
          <a:xfrm>
            <a:off x="5989320" y="1207008"/>
            <a:ext cx="1965960" cy="384048"/>
          </a:xfrm>
          <a:prstGeom prst="rect">
            <a:avLst/>
          </a:prstGeom>
          <a:noFill/>
        </p:spPr>
        <p:txBody>
          <a:bodyPr wrap="square" lIns="18288" rIns="18288" tIns="18288" bIns="18288">
            <a:spAutoFit/>
          </a:bodyPr>
          <a:lstStyle/>
          <a:p>
            <a:pPr>
              <a:spcAft>
                <a:spcPts val="500"/>
              </a:spcAft>
              <a:defRPr sz="1900" b="1">
                <a:solidFill>
                  <a:srgbClr val="1B222B"/>
                </a:solidFill>
                <a:latin typeface="Aptos"/>
              </a:defRPr>
            </a:pPr>
            <a:r>
              <a:t>Cart</a:t>
            </a:r>
          </a:p>
        </p:txBody>
      </p:sp>
      <p:sp>
        <p:nvSpPr>
          <p:cNvPr id="14" name="TextBox 13"/>
          <p:cNvSpPr txBox="1"/>
          <p:nvPr/>
        </p:nvSpPr>
        <p:spPr>
          <a:xfrm>
            <a:off x="7982712" y="1271016"/>
            <a:ext cx="2962656" cy="274320"/>
          </a:xfrm>
          <a:prstGeom prst="rect">
            <a:avLst/>
          </a:prstGeom>
          <a:noFill/>
        </p:spPr>
        <p:txBody>
          <a:bodyPr wrap="square" lIns="18288" rIns="18288" tIns="18288" bIns="18288">
            <a:spAutoFit/>
          </a:bodyPr>
          <a:lstStyle/>
          <a:p>
            <a:pPr>
              <a:spcAft>
                <a:spcPts val="500"/>
              </a:spcAft>
              <a:defRPr sz="1400" b="0">
                <a:solidFill>
                  <a:srgbClr val="56606B"/>
                </a:solidFill>
                <a:latin typeface="Aptos"/>
              </a:defRPr>
            </a:pPr>
            <a:r>
              <a:t>Item and quantity</a:t>
            </a:r>
          </a:p>
        </p:txBody>
      </p:sp>
      <p:sp>
        <p:nvSpPr>
          <p:cNvPr id="15" name="Rounded Rectangle 14"/>
          <p:cNvSpPr/>
          <p:nvPr/>
        </p:nvSpPr>
        <p:spPr>
          <a:xfrm>
            <a:off x="5230368" y="1920240"/>
            <a:ext cx="6080760" cy="658368"/>
          </a:xfrm>
          <a:prstGeom prst="roundRect">
            <a:avLst/>
          </a:prstGeom>
          <a:solidFill>
            <a:srgbClr val="FFFFFF"/>
          </a:solidFill>
          <a:ln>
            <a:solidFill>
              <a:srgbClr val="DA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0" y="2075688"/>
            <a:ext cx="420624" cy="274320"/>
          </a:xfrm>
          <a:prstGeom prst="rect">
            <a:avLst/>
          </a:prstGeom>
          <a:noFill/>
        </p:spPr>
        <p:txBody>
          <a:bodyPr wrap="square" lIns="18288" rIns="18288" tIns="18288" bIns="18288">
            <a:spAutoFit/>
          </a:bodyPr>
          <a:lstStyle/>
          <a:p>
            <a:pPr>
              <a:spcAft>
                <a:spcPts val="500"/>
              </a:spcAft>
              <a:defRPr sz="1300" b="1">
                <a:solidFill>
                  <a:srgbClr val="E37023"/>
                </a:solidFill>
                <a:latin typeface="Aptos"/>
              </a:defRPr>
            </a:pPr>
            <a:r>
              <a:t>02</a:t>
            </a:r>
          </a:p>
        </p:txBody>
      </p:sp>
      <p:sp>
        <p:nvSpPr>
          <p:cNvPr id="17" name="TextBox 16"/>
          <p:cNvSpPr txBox="1"/>
          <p:nvPr/>
        </p:nvSpPr>
        <p:spPr>
          <a:xfrm>
            <a:off x="5989320" y="2011680"/>
            <a:ext cx="1965960" cy="384048"/>
          </a:xfrm>
          <a:prstGeom prst="rect">
            <a:avLst/>
          </a:prstGeom>
          <a:noFill/>
        </p:spPr>
        <p:txBody>
          <a:bodyPr wrap="square" lIns="18288" rIns="18288" tIns="18288" bIns="18288">
            <a:spAutoFit/>
          </a:bodyPr>
          <a:lstStyle/>
          <a:p>
            <a:pPr>
              <a:spcAft>
                <a:spcPts val="500"/>
              </a:spcAft>
              <a:defRPr sz="1900" b="1">
                <a:solidFill>
                  <a:srgbClr val="1B222B"/>
                </a:solidFill>
                <a:latin typeface="Aptos"/>
              </a:defRPr>
            </a:pPr>
            <a:r>
              <a:t>Address</a:t>
            </a:r>
          </a:p>
        </p:txBody>
      </p:sp>
      <p:sp>
        <p:nvSpPr>
          <p:cNvPr id="18" name="TextBox 17"/>
          <p:cNvSpPr txBox="1"/>
          <p:nvPr/>
        </p:nvSpPr>
        <p:spPr>
          <a:xfrm>
            <a:off x="7982712" y="2075688"/>
            <a:ext cx="2962656" cy="274320"/>
          </a:xfrm>
          <a:prstGeom prst="rect">
            <a:avLst/>
          </a:prstGeom>
          <a:noFill/>
        </p:spPr>
        <p:txBody>
          <a:bodyPr wrap="square" lIns="18288" rIns="18288" tIns="18288" bIns="18288">
            <a:spAutoFit/>
          </a:bodyPr>
          <a:lstStyle/>
          <a:p>
            <a:pPr>
              <a:spcAft>
                <a:spcPts val="500"/>
              </a:spcAft>
              <a:defRPr sz="1400" b="0">
                <a:solidFill>
                  <a:srgbClr val="56606B"/>
                </a:solidFill>
                <a:latin typeface="Aptos"/>
              </a:defRPr>
            </a:pPr>
            <a:r>
              <a:t>Saved choices</a:t>
            </a:r>
          </a:p>
        </p:txBody>
      </p:sp>
      <p:sp>
        <p:nvSpPr>
          <p:cNvPr id="19" name="Rounded Rectangle 18"/>
          <p:cNvSpPr/>
          <p:nvPr/>
        </p:nvSpPr>
        <p:spPr>
          <a:xfrm>
            <a:off x="5230368" y="2724912"/>
            <a:ext cx="6080760" cy="658368"/>
          </a:xfrm>
          <a:prstGeom prst="roundRect">
            <a:avLst/>
          </a:prstGeom>
          <a:solidFill>
            <a:srgbClr val="FFFFFF"/>
          </a:solidFill>
          <a:ln>
            <a:solidFill>
              <a:srgbClr val="DA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0" y="2880360"/>
            <a:ext cx="420624" cy="274320"/>
          </a:xfrm>
          <a:prstGeom prst="rect">
            <a:avLst/>
          </a:prstGeom>
          <a:noFill/>
        </p:spPr>
        <p:txBody>
          <a:bodyPr wrap="square" lIns="18288" rIns="18288" tIns="18288" bIns="18288">
            <a:spAutoFit/>
          </a:bodyPr>
          <a:lstStyle/>
          <a:p>
            <a:pPr>
              <a:spcAft>
                <a:spcPts val="500"/>
              </a:spcAft>
              <a:defRPr sz="1300" b="1">
                <a:solidFill>
                  <a:srgbClr val="E37023"/>
                </a:solidFill>
                <a:latin typeface="Aptos"/>
              </a:defRPr>
            </a:pPr>
            <a:r>
              <a:t>03</a:t>
            </a:r>
          </a:p>
        </p:txBody>
      </p:sp>
      <p:sp>
        <p:nvSpPr>
          <p:cNvPr id="21" name="TextBox 20"/>
          <p:cNvSpPr txBox="1"/>
          <p:nvPr/>
        </p:nvSpPr>
        <p:spPr>
          <a:xfrm>
            <a:off x="5989320" y="2816352"/>
            <a:ext cx="1965960" cy="384048"/>
          </a:xfrm>
          <a:prstGeom prst="rect">
            <a:avLst/>
          </a:prstGeom>
          <a:noFill/>
        </p:spPr>
        <p:txBody>
          <a:bodyPr wrap="square" lIns="18288" rIns="18288" tIns="18288" bIns="18288">
            <a:spAutoFit/>
          </a:bodyPr>
          <a:lstStyle/>
          <a:p>
            <a:pPr>
              <a:spcAft>
                <a:spcPts val="500"/>
              </a:spcAft>
              <a:defRPr sz="1900" b="1">
                <a:solidFill>
                  <a:srgbClr val="1B222B"/>
                </a:solidFill>
                <a:latin typeface="Aptos"/>
              </a:defRPr>
            </a:pPr>
            <a:r>
              <a:t>Payment</a:t>
            </a:r>
          </a:p>
        </p:txBody>
      </p:sp>
      <p:sp>
        <p:nvSpPr>
          <p:cNvPr id="22" name="TextBox 21"/>
          <p:cNvSpPr txBox="1"/>
          <p:nvPr/>
        </p:nvSpPr>
        <p:spPr>
          <a:xfrm>
            <a:off x="7982712" y="2880360"/>
            <a:ext cx="2962656" cy="274320"/>
          </a:xfrm>
          <a:prstGeom prst="rect">
            <a:avLst/>
          </a:prstGeom>
          <a:noFill/>
        </p:spPr>
        <p:txBody>
          <a:bodyPr wrap="square" lIns="18288" rIns="18288" tIns="18288" bIns="18288">
            <a:spAutoFit/>
          </a:bodyPr>
          <a:lstStyle/>
          <a:p>
            <a:pPr>
              <a:spcAft>
                <a:spcPts val="500"/>
              </a:spcAft>
              <a:defRPr sz="1400" b="0">
                <a:solidFill>
                  <a:srgbClr val="56606B"/>
                </a:solidFill>
                <a:latin typeface="Aptos"/>
              </a:defRPr>
            </a:pPr>
            <a:r>
              <a:t>Method selection</a:t>
            </a:r>
          </a:p>
        </p:txBody>
      </p:sp>
      <p:sp>
        <p:nvSpPr>
          <p:cNvPr id="23" name="Rounded Rectangle 22"/>
          <p:cNvSpPr/>
          <p:nvPr/>
        </p:nvSpPr>
        <p:spPr>
          <a:xfrm>
            <a:off x="5230368" y="3529584"/>
            <a:ext cx="6080760" cy="658368"/>
          </a:xfrm>
          <a:prstGeom prst="roundRect">
            <a:avLst/>
          </a:prstGeom>
          <a:solidFill>
            <a:srgbClr val="FFFFFF"/>
          </a:solidFill>
          <a:ln>
            <a:solidFill>
              <a:srgbClr val="DA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0" y="3685032"/>
            <a:ext cx="420624" cy="274320"/>
          </a:xfrm>
          <a:prstGeom prst="rect">
            <a:avLst/>
          </a:prstGeom>
          <a:noFill/>
        </p:spPr>
        <p:txBody>
          <a:bodyPr wrap="square" lIns="18288" rIns="18288" tIns="18288" bIns="18288">
            <a:spAutoFit/>
          </a:bodyPr>
          <a:lstStyle/>
          <a:p>
            <a:pPr>
              <a:spcAft>
                <a:spcPts val="500"/>
              </a:spcAft>
              <a:defRPr sz="1300" b="1">
                <a:solidFill>
                  <a:srgbClr val="E37023"/>
                </a:solidFill>
                <a:latin typeface="Aptos"/>
              </a:defRPr>
            </a:pPr>
            <a:r>
              <a:t>04</a:t>
            </a:r>
          </a:p>
        </p:txBody>
      </p:sp>
      <p:sp>
        <p:nvSpPr>
          <p:cNvPr id="25" name="TextBox 24"/>
          <p:cNvSpPr txBox="1"/>
          <p:nvPr/>
        </p:nvSpPr>
        <p:spPr>
          <a:xfrm>
            <a:off x="5989320" y="3621024"/>
            <a:ext cx="1965960" cy="384048"/>
          </a:xfrm>
          <a:prstGeom prst="rect">
            <a:avLst/>
          </a:prstGeom>
          <a:noFill/>
        </p:spPr>
        <p:txBody>
          <a:bodyPr wrap="square" lIns="18288" rIns="18288" tIns="18288" bIns="18288">
            <a:spAutoFit/>
          </a:bodyPr>
          <a:lstStyle/>
          <a:p>
            <a:pPr>
              <a:spcAft>
                <a:spcPts val="500"/>
              </a:spcAft>
              <a:defRPr sz="1900" b="1">
                <a:solidFill>
                  <a:srgbClr val="1B222B"/>
                </a:solidFill>
                <a:latin typeface="Aptos"/>
              </a:defRPr>
            </a:pPr>
            <a:r>
              <a:t>Delivery</a:t>
            </a:r>
          </a:p>
        </p:txBody>
      </p:sp>
      <p:sp>
        <p:nvSpPr>
          <p:cNvPr id="26" name="TextBox 25"/>
          <p:cNvSpPr txBox="1"/>
          <p:nvPr/>
        </p:nvSpPr>
        <p:spPr>
          <a:xfrm>
            <a:off x="7982712" y="3685032"/>
            <a:ext cx="2962656" cy="274320"/>
          </a:xfrm>
          <a:prstGeom prst="rect">
            <a:avLst/>
          </a:prstGeom>
          <a:noFill/>
        </p:spPr>
        <p:txBody>
          <a:bodyPr wrap="square" lIns="18288" rIns="18288" tIns="18288" bIns="18288">
            <a:spAutoFit/>
          </a:bodyPr>
          <a:lstStyle/>
          <a:p>
            <a:pPr>
              <a:spcAft>
                <a:spcPts val="500"/>
              </a:spcAft>
              <a:defRPr sz="1400" b="0">
                <a:solidFill>
                  <a:srgbClr val="56606B"/>
                </a:solidFill>
                <a:latin typeface="Aptos"/>
              </a:defRPr>
            </a:pPr>
            <a:r>
              <a:t>Speed choice</a:t>
            </a:r>
          </a:p>
        </p:txBody>
      </p:sp>
      <p:sp>
        <p:nvSpPr>
          <p:cNvPr id="27" name="Rounded Rectangle 26"/>
          <p:cNvSpPr/>
          <p:nvPr/>
        </p:nvSpPr>
        <p:spPr>
          <a:xfrm>
            <a:off x="5230368" y="4334256"/>
            <a:ext cx="6080760" cy="658368"/>
          </a:xfrm>
          <a:prstGeom prst="roundRect">
            <a:avLst/>
          </a:prstGeom>
          <a:solidFill>
            <a:srgbClr val="FFFFFF"/>
          </a:solidFill>
          <a:ln>
            <a:solidFill>
              <a:srgbClr val="DA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0" y="4489704"/>
            <a:ext cx="420624" cy="274320"/>
          </a:xfrm>
          <a:prstGeom prst="rect">
            <a:avLst/>
          </a:prstGeom>
          <a:noFill/>
        </p:spPr>
        <p:txBody>
          <a:bodyPr wrap="square" lIns="18288" rIns="18288" tIns="18288" bIns="18288">
            <a:spAutoFit/>
          </a:bodyPr>
          <a:lstStyle/>
          <a:p>
            <a:pPr>
              <a:spcAft>
                <a:spcPts val="500"/>
              </a:spcAft>
              <a:defRPr sz="1300" b="1">
                <a:solidFill>
                  <a:srgbClr val="E37023"/>
                </a:solidFill>
                <a:latin typeface="Aptos"/>
              </a:defRPr>
            </a:pPr>
            <a:r>
              <a:t>05</a:t>
            </a:r>
          </a:p>
        </p:txBody>
      </p:sp>
      <p:sp>
        <p:nvSpPr>
          <p:cNvPr id="29" name="TextBox 28"/>
          <p:cNvSpPr txBox="1"/>
          <p:nvPr/>
        </p:nvSpPr>
        <p:spPr>
          <a:xfrm>
            <a:off x="5989320" y="4425696"/>
            <a:ext cx="1965960" cy="384048"/>
          </a:xfrm>
          <a:prstGeom prst="rect">
            <a:avLst/>
          </a:prstGeom>
          <a:noFill/>
        </p:spPr>
        <p:txBody>
          <a:bodyPr wrap="square" lIns="18288" rIns="18288" tIns="18288" bIns="18288">
            <a:spAutoFit/>
          </a:bodyPr>
          <a:lstStyle/>
          <a:p>
            <a:pPr>
              <a:spcAft>
                <a:spcPts val="500"/>
              </a:spcAft>
              <a:defRPr sz="1900" b="1">
                <a:solidFill>
                  <a:srgbClr val="1B222B"/>
                </a:solidFill>
                <a:latin typeface="Aptos"/>
              </a:defRPr>
            </a:pPr>
            <a:r>
              <a:t>Review</a:t>
            </a:r>
          </a:p>
        </p:txBody>
      </p:sp>
      <p:sp>
        <p:nvSpPr>
          <p:cNvPr id="30" name="TextBox 29"/>
          <p:cNvSpPr txBox="1"/>
          <p:nvPr/>
        </p:nvSpPr>
        <p:spPr>
          <a:xfrm>
            <a:off x="7982712" y="4489704"/>
            <a:ext cx="2962656" cy="274320"/>
          </a:xfrm>
          <a:prstGeom prst="rect">
            <a:avLst/>
          </a:prstGeom>
          <a:noFill/>
        </p:spPr>
        <p:txBody>
          <a:bodyPr wrap="square" lIns="18288" rIns="18288" tIns="18288" bIns="18288">
            <a:spAutoFit/>
          </a:bodyPr>
          <a:lstStyle/>
          <a:p>
            <a:pPr>
              <a:spcAft>
                <a:spcPts val="500"/>
              </a:spcAft>
              <a:defRPr sz="1400" b="0">
                <a:solidFill>
                  <a:srgbClr val="56606B"/>
                </a:solidFill>
                <a:latin typeface="Aptos"/>
              </a:defRPr>
            </a:pPr>
            <a:r>
              <a:t>₹214 total</a:t>
            </a:r>
          </a:p>
        </p:txBody>
      </p:sp>
      <p:sp>
        <p:nvSpPr>
          <p:cNvPr id="31" name="Rounded Rectangle 30"/>
          <p:cNvSpPr/>
          <p:nvPr/>
        </p:nvSpPr>
        <p:spPr>
          <a:xfrm>
            <a:off x="5230368" y="5138928"/>
            <a:ext cx="6080760" cy="658368"/>
          </a:xfrm>
          <a:prstGeom prst="roundRect">
            <a:avLst/>
          </a:prstGeom>
          <a:solidFill>
            <a:srgbClr val="FFFFFF"/>
          </a:solidFill>
          <a:ln>
            <a:solidFill>
              <a:srgbClr val="DA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0" y="5294376"/>
            <a:ext cx="420624" cy="274320"/>
          </a:xfrm>
          <a:prstGeom prst="rect">
            <a:avLst/>
          </a:prstGeom>
          <a:noFill/>
        </p:spPr>
        <p:txBody>
          <a:bodyPr wrap="square" lIns="18288" rIns="18288" tIns="18288" bIns="18288">
            <a:spAutoFit/>
          </a:bodyPr>
          <a:lstStyle/>
          <a:p>
            <a:pPr>
              <a:spcAft>
                <a:spcPts val="500"/>
              </a:spcAft>
              <a:defRPr sz="1300" b="1">
                <a:solidFill>
                  <a:srgbClr val="E37023"/>
                </a:solidFill>
                <a:latin typeface="Aptos"/>
              </a:defRPr>
            </a:pPr>
            <a:r>
              <a:t>06</a:t>
            </a:r>
          </a:p>
        </p:txBody>
      </p:sp>
      <p:sp>
        <p:nvSpPr>
          <p:cNvPr id="33" name="TextBox 32"/>
          <p:cNvSpPr txBox="1"/>
          <p:nvPr/>
        </p:nvSpPr>
        <p:spPr>
          <a:xfrm>
            <a:off x="5989320" y="5230368"/>
            <a:ext cx="1965960" cy="384048"/>
          </a:xfrm>
          <a:prstGeom prst="rect">
            <a:avLst/>
          </a:prstGeom>
          <a:noFill/>
        </p:spPr>
        <p:txBody>
          <a:bodyPr wrap="square" lIns="18288" rIns="18288" tIns="18288" bIns="18288">
            <a:spAutoFit/>
          </a:bodyPr>
          <a:lstStyle/>
          <a:p>
            <a:pPr>
              <a:spcAft>
                <a:spcPts val="500"/>
              </a:spcAft>
              <a:defRPr sz="1900" b="1">
                <a:solidFill>
                  <a:srgbClr val="1B222B"/>
                </a:solidFill>
                <a:latin typeface="Aptos"/>
              </a:defRPr>
            </a:pPr>
            <a:r>
              <a:t>Outcome</a:t>
            </a:r>
          </a:p>
        </p:txBody>
      </p:sp>
      <p:sp>
        <p:nvSpPr>
          <p:cNvPr id="34" name="TextBox 33"/>
          <p:cNvSpPr txBox="1"/>
          <p:nvPr/>
        </p:nvSpPr>
        <p:spPr>
          <a:xfrm>
            <a:off x="7982712" y="5294376"/>
            <a:ext cx="2962656" cy="274320"/>
          </a:xfrm>
          <a:prstGeom prst="rect">
            <a:avLst/>
          </a:prstGeom>
          <a:noFill/>
        </p:spPr>
        <p:txBody>
          <a:bodyPr wrap="square" lIns="18288" rIns="18288" tIns="18288" bIns="18288">
            <a:spAutoFit/>
          </a:bodyPr>
          <a:lstStyle/>
          <a:p>
            <a:pPr>
              <a:spcAft>
                <a:spcPts val="500"/>
              </a:spcAft>
              <a:defRPr sz="1400" b="0">
                <a:solidFill>
                  <a:srgbClr val="56606B"/>
                </a:solidFill>
                <a:latin typeface="Aptos"/>
              </a:defRPr>
            </a:pPr>
            <a:r>
              <a:t>Place and cancel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ectangle 1"/>
          <p:cNvSpPr/>
          <p:nvPr/>
        </p:nvSpPr>
        <p:spPr>
          <a:xfrm>
            <a:off x="502920" y="393192"/>
            <a:ext cx="91440" cy="310896"/>
          </a:xfrm>
          <a:prstGeom prst="rect">
            <a:avLst/>
          </a:prstGeom>
          <a:solidFill>
            <a:srgbClr val="E37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310896"/>
            <a:ext cx="10789920" cy="640080"/>
          </a:xfrm>
          <a:prstGeom prst="rect">
            <a:avLst/>
          </a:prstGeom>
          <a:noFill/>
        </p:spPr>
        <p:txBody>
          <a:bodyPr wrap="square" lIns="18288" rIns="18288" tIns="18288" bIns="18288">
            <a:spAutoFit/>
          </a:bodyPr>
          <a:lstStyle/>
          <a:p>
            <a:pPr>
              <a:spcAft>
                <a:spcPts val="500"/>
              </a:spcAft>
              <a:defRPr sz="2900" b="1">
                <a:solidFill>
                  <a:srgbClr val="1B222B"/>
                </a:solidFill>
                <a:latin typeface="Aptos"/>
              </a:defRPr>
            </a:pPr>
            <a:r>
              <a:t>Observed current experience</a:t>
            </a:r>
          </a:p>
        </p:txBody>
      </p:sp>
      <p:sp>
        <p:nvSpPr>
          <p:cNvPr id="4" name="Rectangle 3"/>
          <p:cNvSpPr/>
          <p:nvPr/>
        </p:nvSpPr>
        <p:spPr>
          <a:xfrm>
            <a:off x="594360" y="6492240"/>
            <a:ext cx="11018520" cy="10972"/>
          </a:xfrm>
          <a:prstGeom prst="rect">
            <a:avLst/>
          </a:prstGeom>
          <a:solidFill>
            <a:srgbClr val="DA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556248"/>
            <a:ext cx="9875520" cy="182880"/>
          </a:xfrm>
          <a:prstGeom prst="rect">
            <a:avLst/>
          </a:prstGeom>
          <a:noFill/>
        </p:spPr>
        <p:txBody>
          <a:bodyPr wrap="square" lIns="18288" rIns="18288" tIns="18288" bIns="18288">
            <a:spAutoFit/>
          </a:bodyPr>
          <a:lstStyle/>
          <a:p>
            <a:pPr>
              <a:spcAft>
                <a:spcPts val="500"/>
              </a:spcAft>
              <a:defRPr sz="800" b="0">
                <a:solidFill>
                  <a:srgbClr val="56606B"/>
                </a:solidFill>
                <a:latin typeface="Aptos"/>
              </a:defRPr>
            </a:pPr>
            <a:r>
              <a:t>AMAZON INDIA WEB CHECKOUT  /  INDEPENDENT EDUCATIONAL STUDY</a:t>
            </a:r>
          </a:p>
        </p:txBody>
      </p:sp>
      <p:sp>
        <p:nvSpPr>
          <p:cNvPr id="6" name="TextBox 5"/>
          <p:cNvSpPr txBox="1"/>
          <p:nvPr/>
        </p:nvSpPr>
        <p:spPr>
          <a:xfrm>
            <a:off x="10652760" y="6547104"/>
            <a:ext cx="868680" cy="182880"/>
          </a:xfrm>
          <a:prstGeom prst="rect">
            <a:avLst/>
          </a:prstGeom>
          <a:noFill/>
        </p:spPr>
        <p:txBody>
          <a:bodyPr wrap="square" lIns="18288" rIns="18288" tIns="18288" bIns="18288">
            <a:spAutoFit/>
          </a:bodyPr>
          <a:lstStyle/>
          <a:p>
            <a:pPr algn="r">
              <a:spcAft>
                <a:spcPts val="500"/>
              </a:spcAft>
              <a:defRPr sz="800" b="0">
                <a:solidFill>
                  <a:srgbClr val="56606B"/>
                </a:solidFill>
                <a:latin typeface="Aptos"/>
              </a:defRPr>
            </a:pPr>
            <a:r>
              <a:t>03 / 07</a:t>
            </a:r>
          </a:p>
        </p:txBody>
      </p:sp>
      <p:pic>
        <p:nvPicPr>
          <p:cNvPr id="7" name="Picture 6" descr="cart-item.jpg"/>
          <p:cNvPicPr>
            <a:picLocks noChangeAspect="1"/>
          </p:cNvPicPr>
          <p:nvPr/>
        </p:nvPicPr>
        <p:blipFill>
          <a:blip r:embed="rId3"/>
          <a:stretch>
            <a:fillRect/>
          </a:stretch>
        </p:blipFill>
        <p:spPr>
          <a:xfrm>
            <a:off x="749808" y="1115568"/>
            <a:ext cx="4709160" cy="2190306"/>
          </a:xfrm>
          <a:prstGeom prst="rect">
            <a:avLst/>
          </a:prstGeom>
        </p:spPr>
      </p:pic>
      <p:sp>
        <p:nvSpPr>
          <p:cNvPr id="8" name="TextBox 7"/>
          <p:cNvSpPr txBox="1"/>
          <p:nvPr/>
        </p:nvSpPr>
        <p:spPr>
          <a:xfrm>
            <a:off x="768096" y="3310128"/>
            <a:ext cx="4572000" cy="548640"/>
          </a:xfrm>
          <a:prstGeom prst="rect">
            <a:avLst/>
          </a:prstGeom>
          <a:noFill/>
        </p:spPr>
        <p:txBody>
          <a:bodyPr wrap="square" lIns="18288" rIns="18288" tIns="18288" bIns="18288">
            <a:spAutoFit/>
          </a:bodyPr>
          <a:lstStyle/>
          <a:p>
            <a:pPr>
              <a:spcAft>
                <a:spcPts val="500"/>
              </a:spcAft>
              <a:defRPr sz="1500" b="0">
                <a:solidFill>
                  <a:srgbClr val="56606B"/>
                </a:solidFill>
                <a:latin typeface="Aptos"/>
              </a:defRPr>
            </a:pPr>
            <a:r>
              <a:t>Cart: item, quantity, coupon and delivery promise</a:t>
            </a:r>
          </a:p>
        </p:txBody>
      </p:sp>
      <p:pic>
        <p:nvPicPr>
          <p:cNvPr id="9" name="Picture 8" descr="payment-methods.png"/>
          <p:cNvPicPr>
            <a:picLocks noChangeAspect="1"/>
          </p:cNvPicPr>
          <p:nvPr/>
        </p:nvPicPr>
        <p:blipFill>
          <a:blip r:embed="rId4"/>
          <a:stretch>
            <a:fillRect/>
          </a:stretch>
        </p:blipFill>
        <p:spPr>
          <a:xfrm>
            <a:off x="6044184" y="1115568"/>
            <a:ext cx="2249424" cy="1817848"/>
          </a:xfrm>
          <a:prstGeom prst="rect">
            <a:avLst/>
          </a:prstGeom>
        </p:spPr>
      </p:pic>
      <p:sp>
        <p:nvSpPr>
          <p:cNvPr id="10" name="TextBox 9"/>
          <p:cNvSpPr txBox="1"/>
          <p:nvPr/>
        </p:nvSpPr>
        <p:spPr>
          <a:xfrm>
            <a:off x="6053328" y="3319272"/>
            <a:ext cx="2468880" cy="310896"/>
          </a:xfrm>
          <a:prstGeom prst="rect">
            <a:avLst/>
          </a:prstGeom>
          <a:noFill/>
        </p:spPr>
        <p:txBody>
          <a:bodyPr wrap="square" lIns="18288" rIns="18288" tIns="18288" bIns="18288">
            <a:spAutoFit/>
          </a:bodyPr>
          <a:lstStyle/>
          <a:p>
            <a:pPr>
              <a:spcAft>
                <a:spcPts val="500"/>
              </a:spcAft>
              <a:defRPr sz="1500" b="0">
                <a:solidFill>
                  <a:srgbClr val="56606B"/>
                </a:solidFill>
                <a:latin typeface="Aptos"/>
              </a:defRPr>
            </a:pPr>
            <a:r>
              <a:t>Payment methods</a:t>
            </a:r>
          </a:p>
        </p:txBody>
      </p:sp>
      <p:pic>
        <p:nvPicPr>
          <p:cNvPr id="11" name="Picture 10" descr="review-total.png"/>
          <p:cNvPicPr>
            <a:picLocks noChangeAspect="1"/>
          </p:cNvPicPr>
          <p:nvPr/>
        </p:nvPicPr>
        <p:blipFill>
          <a:blip r:embed="rId5"/>
          <a:stretch>
            <a:fillRect/>
          </a:stretch>
        </p:blipFill>
        <p:spPr>
          <a:xfrm>
            <a:off x="8631936" y="1170432"/>
            <a:ext cx="2633472" cy="670873"/>
          </a:xfrm>
          <a:prstGeom prst="rect">
            <a:avLst/>
          </a:prstGeom>
        </p:spPr>
      </p:pic>
      <p:sp>
        <p:nvSpPr>
          <p:cNvPr id="12" name="TextBox 11"/>
          <p:cNvSpPr txBox="1"/>
          <p:nvPr/>
        </p:nvSpPr>
        <p:spPr>
          <a:xfrm>
            <a:off x="8631936" y="2359152"/>
            <a:ext cx="2679192" cy="758952"/>
          </a:xfrm>
          <a:prstGeom prst="rect">
            <a:avLst/>
          </a:prstGeom>
          <a:noFill/>
        </p:spPr>
        <p:txBody>
          <a:bodyPr wrap="square" lIns="18288" rIns="18288" tIns="18288" bIns="18288">
            <a:spAutoFit/>
          </a:bodyPr>
          <a:lstStyle/>
          <a:p>
            <a:pPr>
              <a:spcAft>
                <a:spcPts val="500"/>
              </a:spcAft>
              <a:defRPr sz="1500" b="0">
                <a:solidFill>
                  <a:srgbClr val="56606B"/>
                </a:solidFill>
                <a:latin typeface="Aptos"/>
              </a:defRPr>
            </a:pPr>
            <a:r>
              <a:t>Review: ₹207 + ₹7 COD fee = ₹214</a:t>
            </a:r>
          </a:p>
        </p:txBody>
      </p:sp>
      <p:sp>
        <p:nvSpPr>
          <p:cNvPr id="13" name="Rounded Rectangle 12"/>
          <p:cNvSpPr/>
          <p:nvPr/>
        </p:nvSpPr>
        <p:spPr>
          <a:xfrm>
            <a:off x="749808" y="3986784"/>
            <a:ext cx="10497312" cy="1709928"/>
          </a:xfrm>
          <a:prstGeom prst="roundRect">
            <a:avLst/>
          </a:prstGeom>
          <a:solidFill>
            <a:srgbClr val="FFFFFF"/>
          </a:solidFill>
          <a:ln>
            <a:solidFill>
              <a:srgbClr val="DA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order-confirmation.jpg"/>
          <p:cNvPicPr>
            <a:picLocks noChangeAspect="1"/>
          </p:cNvPicPr>
          <p:nvPr/>
        </p:nvPicPr>
        <p:blipFill>
          <a:blip r:embed="rId6"/>
          <a:stretch>
            <a:fillRect/>
          </a:stretch>
        </p:blipFill>
        <p:spPr>
          <a:xfrm>
            <a:off x="969264" y="4206240"/>
            <a:ext cx="4041648" cy="583793"/>
          </a:xfrm>
          <a:prstGeom prst="rect">
            <a:avLst/>
          </a:prstGeom>
        </p:spPr>
      </p:pic>
      <p:pic>
        <p:nvPicPr>
          <p:cNvPr id="15" name="Picture 14" descr="cancellation-success.png"/>
          <p:cNvPicPr>
            <a:picLocks noChangeAspect="1"/>
          </p:cNvPicPr>
          <p:nvPr/>
        </p:nvPicPr>
        <p:blipFill>
          <a:blip r:embed="rId7"/>
          <a:stretch>
            <a:fillRect/>
          </a:stretch>
        </p:blipFill>
        <p:spPr>
          <a:xfrm>
            <a:off x="5513832" y="4133087"/>
            <a:ext cx="2331720" cy="1216549"/>
          </a:xfrm>
          <a:prstGeom prst="rect">
            <a:avLst/>
          </a:prstGeom>
        </p:spPr>
      </p:pic>
      <p:sp>
        <p:nvSpPr>
          <p:cNvPr id="16" name="TextBox 15"/>
          <p:cNvSpPr txBox="1"/>
          <p:nvPr/>
        </p:nvSpPr>
        <p:spPr>
          <a:xfrm>
            <a:off x="8083296" y="4389120"/>
            <a:ext cx="2606040" cy="731520"/>
          </a:xfrm>
          <a:prstGeom prst="rect">
            <a:avLst/>
          </a:prstGeom>
          <a:noFill/>
        </p:spPr>
        <p:txBody>
          <a:bodyPr wrap="square" lIns="18288" rIns="18288" tIns="18288" bIns="18288">
            <a:spAutoFit/>
          </a:bodyPr>
          <a:lstStyle/>
          <a:p>
            <a:pPr>
              <a:spcAft>
                <a:spcPts val="500"/>
              </a:spcAft>
              <a:defRPr sz="1600" b="1">
                <a:solidFill>
                  <a:srgbClr val="1B222B"/>
                </a:solidFill>
                <a:latin typeface="Aptos"/>
              </a:defRPr>
            </a:pPr>
            <a:r>
              <a:t>Order placed; then successfully cancelled</a:t>
            </a:r>
          </a:p>
        </p:txBody>
      </p:sp>
      <p:sp>
        <p:nvSpPr>
          <p:cNvPr id="17" name="TextBox 16"/>
          <p:cNvSpPr txBox="1"/>
          <p:nvPr/>
        </p:nvSpPr>
        <p:spPr>
          <a:xfrm>
            <a:off x="768096" y="5888736"/>
            <a:ext cx="10332720" cy="320040"/>
          </a:xfrm>
          <a:prstGeom prst="rect">
            <a:avLst/>
          </a:prstGeom>
          <a:noFill/>
        </p:spPr>
        <p:txBody>
          <a:bodyPr wrap="square" lIns="18288" rIns="18288" tIns="18288" bIns="18288">
            <a:spAutoFit/>
          </a:bodyPr>
          <a:lstStyle/>
          <a:p>
            <a:pPr>
              <a:spcAft>
                <a:spcPts val="500"/>
              </a:spcAft>
              <a:defRPr sz="1500" b="1">
                <a:solidFill>
                  <a:srgbClr val="E37023"/>
                </a:solidFill>
                <a:latin typeface="Aptos"/>
              </a:defRPr>
            </a:pPr>
            <a:r>
              <a:t>No payment failure was encountered or captured.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ectangle 1"/>
          <p:cNvSpPr/>
          <p:nvPr/>
        </p:nvSpPr>
        <p:spPr>
          <a:xfrm>
            <a:off x="502920" y="393192"/>
            <a:ext cx="91440" cy="310896"/>
          </a:xfrm>
          <a:prstGeom prst="rect">
            <a:avLst/>
          </a:prstGeom>
          <a:solidFill>
            <a:srgbClr val="E37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310896"/>
            <a:ext cx="10789920" cy="640080"/>
          </a:xfrm>
          <a:prstGeom prst="rect">
            <a:avLst/>
          </a:prstGeom>
          <a:noFill/>
        </p:spPr>
        <p:txBody>
          <a:bodyPr wrap="square" lIns="18288" rIns="18288" tIns="18288" bIns="18288">
            <a:spAutoFit/>
          </a:bodyPr>
          <a:lstStyle/>
          <a:p>
            <a:pPr>
              <a:spcAft>
                <a:spcPts val="500"/>
              </a:spcAft>
              <a:defRPr sz="2900" b="1">
                <a:solidFill>
                  <a:srgbClr val="1B222B"/>
                </a:solidFill>
                <a:latin typeface="Aptos"/>
              </a:defRPr>
            </a:pPr>
            <a:r>
              <a:t>Nielsen heuristic audit</a:t>
            </a:r>
          </a:p>
        </p:txBody>
      </p:sp>
      <p:sp>
        <p:nvSpPr>
          <p:cNvPr id="4" name="Rectangle 3"/>
          <p:cNvSpPr/>
          <p:nvPr/>
        </p:nvSpPr>
        <p:spPr>
          <a:xfrm>
            <a:off x="594360" y="6492240"/>
            <a:ext cx="11018520" cy="10972"/>
          </a:xfrm>
          <a:prstGeom prst="rect">
            <a:avLst/>
          </a:prstGeom>
          <a:solidFill>
            <a:srgbClr val="DA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556248"/>
            <a:ext cx="9875520" cy="182880"/>
          </a:xfrm>
          <a:prstGeom prst="rect">
            <a:avLst/>
          </a:prstGeom>
          <a:noFill/>
        </p:spPr>
        <p:txBody>
          <a:bodyPr wrap="square" lIns="18288" rIns="18288" tIns="18288" bIns="18288">
            <a:spAutoFit/>
          </a:bodyPr>
          <a:lstStyle/>
          <a:p>
            <a:pPr>
              <a:spcAft>
                <a:spcPts val="500"/>
              </a:spcAft>
              <a:defRPr sz="800" b="0">
                <a:solidFill>
                  <a:srgbClr val="56606B"/>
                </a:solidFill>
                <a:latin typeface="Aptos"/>
              </a:defRPr>
            </a:pPr>
            <a:r>
              <a:t>AMAZON INDIA WEB CHECKOUT  /  INDEPENDENT EDUCATIONAL STUDY</a:t>
            </a:r>
          </a:p>
        </p:txBody>
      </p:sp>
      <p:sp>
        <p:nvSpPr>
          <p:cNvPr id="6" name="TextBox 5"/>
          <p:cNvSpPr txBox="1"/>
          <p:nvPr/>
        </p:nvSpPr>
        <p:spPr>
          <a:xfrm>
            <a:off x="10652760" y="6547104"/>
            <a:ext cx="868680" cy="182880"/>
          </a:xfrm>
          <a:prstGeom prst="rect">
            <a:avLst/>
          </a:prstGeom>
          <a:noFill/>
        </p:spPr>
        <p:txBody>
          <a:bodyPr wrap="square" lIns="18288" rIns="18288" tIns="18288" bIns="18288">
            <a:spAutoFit/>
          </a:bodyPr>
          <a:lstStyle/>
          <a:p>
            <a:pPr algn="r">
              <a:spcAft>
                <a:spcPts val="500"/>
              </a:spcAft>
              <a:defRPr sz="800" b="0">
                <a:solidFill>
                  <a:srgbClr val="56606B"/>
                </a:solidFill>
                <a:latin typeface="Aptos"/>
              </a:defRPr>
            </a:pPr>
            <a:r>
              <a:t>04 / 07</a:t>
            </a:r>
          </a:p>
        </p:txBody>
      </p:sp>
      <p:sp>
        <p:nvSpPr>
          <p:cNvPr id="7" name="TextBox 6"/>
          <p:cNvSpPr txBox="1"/>
          <p:nvPr/>
        </p:nvSpPr>
        <p:spPr>
          <a:xfrm>
            <a:off x="749808" y="960120"/>
            <a:ext cx="10332720" cy="457200"/>
          </a:xfrm>
          <a:prstGeom prst="rect">
            <a:avLst/>
          </a:prstGeom>
          <a:noFill/>
        </p:spPr>
        <p:txBody>
          <a:bodyPr wrap="square" lIns="18288" rIns="18288" tIns="18288" bIns="18288">
            <a:spAutoFit/>
          </a:bodyPr>
          <a:lstStyle/>
          <a:p>
            <a:pPr>
              <a:spcAft>
                <a:spcPts val="500"/>
              </a:spcAft>
              <a:defRPr sz="1700" b="0">
                <a:solidFill>
                  <a:srgbClr val="56606B"/>
                </a:solidFill>
                <a:latin typeface="Aptos"/>
              </a:defRPr>
            </a:pPr>
            <a:r>
              <a:t>Observed interface facts support the questions below; user impact needs testing.</a:t>
            </a:r>
          </a:p>
        </p:txBody>
      </p:sp>
      <p:sp>
        <p:nvSpPr>
          <p:cNvPr id="8" name="TextBox 7"/>
          <p:cNvSpPr txBox="1"/>
          <p:nvPr/>
        </p:nvSpPr>
        <p:spPr>
          <a:xfrm>
            <a:off x="786384" y="1545336"/>
            <a:ext cx="457200" cy="329184"/>
          </a:xfrm>
          <a:prstGeom prst="rect">
            <a:avLst/>
          </a:prstGeom>
          <a:noFill/>
        </p:spPr>
        <p:txBody>
          <a:bodyPr wrap="square" lIns="18288" rIns="18288" tIns="18288" bIns="18288">
            <a:spAutoFit/>
          </a:bodyPr>
          <a:lstStyle/>
          <a:p>
            <a:pPr>
              <a:spcAft>
                <a:spcPts val="500"/>
              </a:spcAft>
              <a:defRPr sz="1300" b="1">
                <a:solidFill>
                  <a:srgbClr val="E37023"/>
                </a:solidFill>
                <a:latin typeface="Aptos"/>
              </a:defRPr>
            </a:pPr>
            <a:r>
              <a:t>ID</a:t>
            </a:r>
          </a:p>
        </p:txBody>
      </p:sp>
      <p:sp>
        <p:nvSpPr>
          <p:cNvPr id="9" name="TextBox 8"/>
          <p:cNvSpPr txBox="1"/>
          <p:nvPr/>
        </p:nvSpPr>
        <p:spPr>
          <a:xfrm>
            <a:off x="1261872" y="1545336"/>
            <a:ext cx="2880360" cy="329184"/>
          </a:xfrm>
          <a:prstGeom prst="rect">
            <a:avLst/>
          </a:prstGeom>
          <a:noFill/>
        </p:spPr>
        <p:txBody>
          <a:bodyPr wrap="square" lIns="18288" rIns="18288" tIns="18288" bIns="18288">
            <a:spAutoFit/>
          </a:bodyPr>
          <a:lstStyle/>
          <a:p>
            <a:pPr>
              <a:spcAft>
                <a:spcPts val="500"/>
              </a:spcAft>
              <a:defRPr sz="1300" b="1">
                <a:solidFill>
                  <a:srgbClr val="E37023"/>
                </a:solidFill>
                <a:latin typeface="Aptos"/>
              </a:defRPr>
            </a:pPr>
            <a:r>
              <a:t>Evaluation question</a:t>
            </a:r>
          </a:p>
        </p:txBody>
      </p:sp>
      <p:sp>
        <p:nvSpPr>
          <p:cNvPr id="10" name="TextBox 9"/>
          <p:cNvSpPr txBox="1"/>
          <p:nvPr/>
        </p:nvSpPr>
        <p:spPr>
          <a:xfrm>
            <a:off x="4160520" y="1545336"/>
            <a:ext cx="2450592" cy="329184"/>
          </a:xfrm>
          <a:prstGeom prst="rect">
            <a:avLst/>
          </a:prstGeom>
          <a:noFill/>
        </p:spPr>
        <p:txBody>
          <a:bodyPr wrap="square" lIns="18288" rIns="18288" tIns="18288" bIns="18288">
            <a:spAutoFit/>
          </a:bodyPr>
          <a:lstStyle/>
          <a:p>
            <a:pPr>
              <a:spcAft>
                <a:spcPts val="500"/>
              </a:spcAft>
              <a:defRPr sz="1300" b="1">
                <a:solidFill>
                  <a:srgbClr val="E37023"/>
                </a:solidFill>
                <a:latin typeface="Aptos"/>
              </a:defRPr>
            </a:pPr>
            <a:r>
              <a:t>Heuristic</a:t>
            </a:r>
          </a:p>
        </p:txBody>
      </p:sp>
      <p:sp>
        <p:nvSpPr>
          <p:cNvPr id="11" name="TextBox 10"/>
          <p:cNvSpPr txBox="1"/>
          <p:nvPr/>
        </p:nvSpPr>
        <p:spPr>
          <a:xfrm>
            <a:off x="6656832" y="1545336"/>
            <a:ext cx="3355848" cy="329184"/>
          </a:xfrm>
          <a:prstGeom prst="rect">
            <a:avLst/>
          </a:prstGeom>
          <a:noFill/>
        </p:spPr>
        <p:txBody>
          <a:bodyPr wrap="square" lIns="18288" rIns="18288" tIns="18288" bIns="18288">
            <a:spAutoFit/>
          </a:bodyPr>
          <a:lstStyle/>
          <a:p>
            <a:pPr>
              <a:spcAft>
                <a:spcPts val="500"/>
              </a:spcAft>
              <a:defRPr sz="1300" b="1">
                <a:solidFill>
                  <a:srgbClr val="E37023"/>
                </a:solidFill>
                <a:latin typeface="Aptos"/>
              </a:defRPr>
            </a:pPr>
            <a:r>
              <a:t>Evidence boundary</a:t>
            </a:r>
          </a:p>
        </p:txBody>
      </p:sp>
      <p:sp>
        <p:nvSpPr>
          <p:cNvPr id="12" name="TextBox 11"/>
          <p:cNvSpPr txBox="1"/>
          <p:nvPr/>
        </p:nvSpPr>
        <p:spPr>
          <a:xfrm>
            <a:off x="10213848" y="1545336"/>
            <a:ext cx="914400" cy="329184"/>
          </a:xfrm>
          <a:prstGeom prst="rect">
            <a:avLst/>
          </a:prstGeom>
          <a:noFill/>
        </p:spPr>
        <p:txBody>
          <a:bodyPr wrap="square" lIns="18288" rIns="18288" tIns="18288" bIns="18288">
            <a:spAutoFit/>
          </a:bodyPr>
          <a:lstStyle/>
          <a:p>
            <a:pPr>
              <a:spcAft>
                <a:spcPts val="500"/>
              </a:spcAft>
              <a:defRPr sz="1300" b="1">
                <a:solidFill>
                  <a:srgbClr val="E37023"/>
                </a:solidFill>
                <a:latin typeface="Aptos"/>
              </a:defRPr>
            </a:pPr>
            <a:r>
              <a:t>Risk</a:t>
            </a:r>
          </a:p>
        </p:txBody>
      </p:sp>
      <p:sp>
        <p:nvSpPr>
          <p:cNvPr id="13" name="Rectangle 12"/>
          <p:cNvSpPr/>
          <p:nvPr/>
        </p:nvSpPr>
        <p:spPr>
          <a:xfrm>
            <a:off x="722376" y="1920240"/>
            <a:ext cx="10570464"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2029968"/>
            <a:ext cx="438912" cy="310896"/>
          </a:xfrm>
          <a:prstGeom prst="rect">
            <a:avLst/>
          </a:prstGeom>
          <a:noFill/>
        </p:spPr>
        <p:txBody>
          <a:bodyPr wrap="square" lIns="18288" rIns="18288" tIns="18288" bIns="18288">
            <a:spAutoFit/>
          </a:bodyPr>
          <a:lstStyle/>
          <a:p>
            <a:pPr>
              <a:spcAft>
                <a:spcPts val="500"/>
              </a:spcAft>
              <a:defRPr sz="1500" b="1">
                <a:solidFill>
                  <a:srgbClr val="1B222B"/>
                </a:solidFill>
                <a:latin typeface="Aptos"/>
              </a:defRPr>
            </a:pPr>
            <a:r>
              <a:t>01</a:t>
            </a:r>
          </a:p>
        </p:txBody>
      </p:sp>
      <p:sp>
        <p:nvSpPr>
          <p:cNvPr id="15" name="TextBox 14"/>
          <p:cNvSpPr txBox="1"/>
          <p:nvPr/>
        </p:nvSpPr>
        <p:spPr>
          <a:xfrm>
            <a:off x="1261872" y="2029968"/>
            <a:ext cx="2834640" cy="310896"/>
          </a:xfrm>
          <a:prstGeom prst="rect">
            <a:avLst/>
          </a:prstGeom>
          <a:noFill/>
        </p:spPr>
        <p:txBody>
          <a:bodyPr wrap="square" lIns="18288" rIns="18288" tIns="18288" bIns="18288">
            <a:spAutoFit/>
          </a:bodyPr>
          <a:lstStyle/>
          <a:p>
            <a:pPr>
              <a:spcAft>
                <a:spcPts val="500"/>
              </a:spcAft>
              <a:defRPr sz="1600" b="1">
                <a:solidFill>
                  <a:srgbClr val="1B222B"/>
                </a:solidFill>
                <a:latin typeface="Aptos"/>
              </a:defRPr>
            </a:pPr>
            <a:r>
              <a:t>Final cost clarity</a:t>
            </a:r>
          </a:p>
        </p:txBody>
      </p:sp>
      <p:sp>
        <p:nvSpPr>
          <p:cNvPr id="16" name="TextBox 15"/>
          <p:cNvSpPr txBox="1"/>
          <p:nvPr/>
        </p:nvSpPr>
        <p:spPr>
          <a:xfrm>
            <a:off x="4160520" y="2029968"/>
            <a:ext cx="2450592" cy="310896"/>
          </a:xfrm>
          <a:prstGeom prst="rect">
            <a:avLst/>
          </a:prstGeom>
          <a:noFill/>
        </p:spPr>
        <p:txBody>
          <a:bodyPr wrap="square" lIns="18288" rIns="18288" tIns="18288" bIns="18288">
            <a:spAutoFit/>
          </a:bodyPr>
          <a:lstStyle/>
          <a:p>
            <a:pPr>
              <a:spcAft>
                <a:spcPts val="500"/>
              </a:spcAft>
              <a:defRPr sz="1500" b="1">
                <a:solidFill>
                  <a:srgbClr val="1B222B"/>
                </a:solidFill>
                <a:latin typeface="Aptos"/>
              </a:defRPr>
            </a:pPr>
            <a:r>
              <a:t>Visibility of status</a:t>
            </a:r>
          </a:p>
        </p:txBody>
      </p:sp>
      <p:sp>
        <p:nvSpPr>
          <p:cNvPr id="17" name="TextBox 16"/>
          <p:cNvSpPr txBox="1"/>
          <p:nvPr/>
        </p:nvSpPr>
        <p:spPr>
          <a:xfrm>
            <a:off x="6656832" y="2029968"/>
            <a:ext cx="3355848" cy="310896"/>
          </a:xfrm>
          <a:prstGeom prst="rect">
            <a:avLst/>
          </a:prstGeom>
          <a:noFill/>
        </p:spPr>
        <p:txBody>
          <a:bodyPr wrap="square" lIns="18288" rIns="18288" tIns="18288" bIns="18288">
            <a:spAutoFit/>
          </a:bodyPr>
          <a:lstStyle/>
          <a:p>
            <a:pPr>
              <a:spcAft>
                <a:spcPts val="500"/>
              </a:spcAft>
              <a:defRPr sz="1400" b="1">
                <a:solidFill>
                  <a:srgbClr val="1B222B"/>
                </a:solidFill>
                <a:latin typeface="Aptos"/>
              </a:defRPr>
            </a:pPr>
            <a:r>
              <a:t>Review shows ₹7 COD fee</a:t>
            </a:r>
          </a:p>
        </p:txBody>
      </p:sp>
      <p:sp>
        <p:nvSpPr>
          <p:cNvPr id="18" name="TextBox 17"/>
          <p:cNvSpPr txBox="1"/>
          <p:nvPr/>
        </p:nvSpPr>
        <p:spPr>
          <a:xfrm>
            <a:off x="10213848" y="2029968"/>
            <a:ext cx="914400" cy="310896"/>
          </a:xfrm>
          <a:prstGeom prst="rect">
            <a:avLst/>
          </a:prstGeom>
          <a:noFill/>
        </p:spPr>
        <p:txBody>
          <a:bodyPr wrap="square" lIns="18288" rIns="18288" tIns="18288" bIns="18288">
            <a:spAutoFit/>
          </a:bodyPr>
          <a:lstStyle/>
          <a:p>
            <a:pPr>
              <a:spcAft>
                <a:spcPts val="500"/>
              </a:spcAft>
              <a:defRPr sz="1500" b="1">
                <a:solidFill>
                  <a:srgbClr val="1B222B"/>
                </a:solidFill>
                <a:latin typeface="Aptos"/>
              </a:defRPr>
            </a:pPr>
            <a:r>
              <a:t>3/4</a:t>
            </a:r>
          </a:p>
        </p:txBody>
      </p:sp>
      <p:sp>
        <p:nvSpPr>
          <p:cNvPr id="19" name="Rectangle 18"/>
          <p:cNvSpPr/>
          <p:nvPr/>
        </p:nvSpPr>
        <p:spPr>
          <a:xfrm>
            <a:off x="722376" y="2523744"/>
            <a:ext cx="10570464" cy="521207"/>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2633472"/>
            <a:ext cx="438912" cy="310896"/>
          </a:xfrm>
          <a:prstGeom prst="rect">
            <a:avLst/>
          </a:prstGeom>
          <a:noFill/>
        </p:spPr>
        <p:txBody>
          <a:bodyPr wrap="square" lIns="18288" rIns="18288" tIns="18288" bIns="18288">
            <a:spAutoFit/>
          </a:bodyPr>
          <a:lstStyle/>
          <a:p>
            <a:pPr>
              <a:spcAft>
                <a:spcPts val="500"/>
              </a:spcAft>
              <a:defRPr sz="1500" b="0">
                <a:solidFill>
                  <a:srgbClr val="1B222B"/>
                </a:solidFill>
                <a:latin typeface="Aptos"/>
              </a:defRPr>
            </a:pPr>
            <a:r>
              <a:t>02</a:t>
            </a:r>
          </a:p>
        </p:txBody>
      </p:sp>
      <p:sp>
        <p:nvSpPr>
          <p:cNvPr id="21" name="TextBox 20"/>
          <p:cNvSpPr txBox="1"/>
          <p:nvPr/>
        </p:nvSpPr>
        <p:spPr>
          <a:xfrm>
            <a:off x="1261872" y="2633472"/>
            <a:ext cx="2834640" cy="310896"/>
          </a:xfrm>
          <a:prstGeom prst="rect">
            <a:avLst/>
          </a:prstGeom>
          <a:noFill/>
        </p:spPr>
        <p:txBody>
          <a:bodyPr wrap="square" lIns="18288" rIns="18288" tIns="18288" bIns="18288">
            <a:spAutoFit/>
          </a:bodyPr>
          <a:lstStyle/>
          <a:p>
            <a:pPr>
              <a:spcAft>
                <a:spcPts val="500"/>
              </a:spcAft>
              <a:defRPr sz="1600" b="0">
                <a:solidFill>
                  <a:srgbClr val="1B222B"/>
                </a:solidFill>
                <a:latin typeface="Aptos"/>
              </a:defRPr>
            </a:pPr>
            <a:r>
              <a:t>Choice overload</a:t>
            </a:r>
          </a:p>
        </p:txBody>
      </p:sp>
      <p:sp>
        <p:nvSpPr>
          <p:cNvPr id="22" name="TextBox 21"/>
          <p:cNvSpPr txBox="1"/>
          <p:nvPr/>
        </p:nvSpPr>
        <p:spPr>
          <a:xfrm>
            <a:off x="4160520" y="2633472"/>
            <a:ext cx="2450592" cy="310896"/>
          </a:xfrm>
          <a:prstGeom prst="rect">
            <a:avLst/>
          </a:prstGeom>
          <a:noFill/>
        </p:spPr>
        <p:txBody>
          <a:bodyPr wrap="square" lIns="18288" rIns="18288" tIns="18288" bIns="18288">
            <a:spAutoFit/>
          </a:bodyPr>
          <a:lstStyle/>
          <a:p>
            <a:pPr>
              <a:spcAft>
                <a:spcPts val="500"/>
              </a:spcAft>
              <a:defRPr sz="1500" b="0">
                <a:solidFill>
                  <a:srgbClr val="1B222B"/>
                </a:solidFill>
                <a:latin typeface="Aptos"/>
              </a:defRPr>
            </a:pPr>
            <a:r>
              <a:t>Minimalist design</a:t>
            </a:r>
          </a:p>
        </p:txBody>
      </p:sp>
      <p:sp>
        <p:nvSpPr>
          <p:cNvPr id="23" name="TextBox 22"/>
          <p:cNvSpPr txBox="1"/>
          <p:nvPr/>
        </p:nvSpPr>
        <p:spPr>
          <a:xfrm>
            <a:off x="6656832" y="2633472"/>
            <a:ext cx="3355848" cy="310896"/>
          </a:xfrm>
          <a:prstGeom prst="rect">
            <a:avLst/>
          </a:prstGeom>
          <a:noFill/>
        </p:spPr>
        <p:txBody>
          <a:bodyPr wrap="square" lIns="18288" rIns="18288" tIns="18288" bIns="18288">
            <a:spAutoFit/>
          </a:bodyPr>
          <a:lstStyle/>
          <a:p>
            <a:pPr>
              <a:spcAft>
                <a:spcPts val="500"/>
              </a:spcAft>
              <a:defRPr sz="1400" b="0">
                <a:solidFill>
                  <a:srgbClr val="1B222B"/>
                </a:solidFill>
                <a:latin typeface="Aptos"/>
              </a:defRPr>
            </a:pPr>
            <a:r>
              <a:t>Coupon and extra-choice screens</a:t>
            </a:r>
          </a:p>
        </p:txBody>
      </p:sp>
      <p:sp>
        <p:nvSpPr>
          <p:cNvPr id="24" name="TextBox 23"/>
          <p:cNvSpPr txBox="1"/>
          <p:nvPr/>
        </p:nvSpPr>
        <p:spPr>
          <a:xfrm>
            <a:off x="10213848" y="2633472"/>
            <a:ext cx="914400" cy="310896"/>
          </a:xfrm>
          <a:prstGeom prst="rect">
            <a:avLst/>
          </a:prstGeom>
          <a:noFill/>
        </p:spPr>
        <p:txBody>
          <a:bodyPr wrap="square" lIns="18288" rIns="18288" tIns="18288" bIns="18288">
            <a:spAutoFit/>
          </a:bodyPr>
          <a:lstStyle/>
          <a:p>
            <a:pPr>
              <a:spcAft>
                <a:spcPts val="500"/>
              </a:spcAft>
              <a:defRPr sz="1500" b="0">
                <a:solidFill>
                  <a:srgbClr val="1B222B"/>
                </a:solidFill>
                <a:latin typeface="Aptos"/>
              </a:defRPr>
            </a:pPr>
            <a:r>
              <a:t>2/4</a:t>
            </a:r>
          </a:p>
        </p:txBody>
      </p:sp>
      <p:sp>
        <p:nvSpPr>
          <p:cNvPr id="25" name="Rectangle 24"/>
          <p:cNvSpPr/>
          <p:nvPr/>
        </p:nvSpPr>
        <p:spPr>
          <a:xfrm>
            <a:off x="722376" y="3127248"/>
            <a:ext cx="10570464"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8" y="3236976"/>
            <a:ext cx="438912" cy="310896"/>
          </a:xfrm>
          <a:prstGeom prst="rect">
            <a:avLst/>
          </a:prstGeom>
          <a:noFill/>
        </p:spPr>
        <p:txBody>
          <a:bodyPr wrap="square" lIns="18288" rIns="18288" tIns="18288" bIns="18288">
            <a:spAutoFit/>
          </a:bodyPr>
          <a:lstStyle/>
          <a:p>
            <a:pPr>
              <a:spcAft>
                <a:spcPts val="500"/>
              </a:spcAft>
              <a:defRPr sz="1500" b="0">
                <a:solidFill>
                  <a:srgbClr val="1B222B"/>
                </a:solidFill>
                <a:latin typeface="Aptos"/>
              </a:defRPr>
            </a:pPr>
            <a:r>
              <a:t>03</a:t>
            </a:r>
          </a:p>
        </p:txBody>
      </p:sp>
      <p:sp>
        <p:nvSpPr>
          <p:cNvPr id="27" name="TextBox 26"/>
          <p:cNvSpPr txBox="1"/>
          <p:nvPr/>
        </p:nvSpPr>
        <p:spPr>
          <a:xfrm>
            <a:off x="1261872" y="3236976"/>
            <a:ext cx="2834640" cy="310896"/>
          </a:xfrm>
          <a:prstGeom prst="rect">
            <a:avLst/>
          </a:prstGeom>
          <a:noFill/>
        </p:spPr>
        <p:txBody>
          <a:bodyPr wrap="square" lIns="18288" rIns="18288" tIns="18288" bIns="18288">
            <a:spAutoFit/>
          </a:bodyPr>
          <a:lstStyle/>
          <a:p>
            <a:pPr>
              <a:spcAft>
                <a:spcPts val="500"/>
              </a:spcAft>
              <a:defRPr sz="1600" b="0">
                <a:solidFill>
                  <a:srgbClr val="1B222B"/>
                </a:solidFill>
                <a:latin typeface="Aptos"/>
              </a:defRPr>
            </a:pPr>
            <a:r>
              <a:t>Edit without rework</a:t>
            </a:r>
          </a:p>
        </p:txBody>
      </p:sp>
      <p:sp>
        <p:nvSpPr>
          <p:cNvPr id="28" name="TextBox 27"/>
          <p:cNvSpPr txBox="1"/>
          <p:nvPr/>
        </p:nvSpPr>
        <p:spPr>
          <a:xfrm>
            <a:off x="4160520" y="3236976"/>
            <a:ext cx="2450592" cy="310896"/>
          </a:xfrm>
          <a:prstGeom prst="rect">
            <a:avLst/>
          </a:prstGeom>
          <a:noFill/>
        </p:spPr>
        <p:txBody>
          <a:bodyPr wrap="square" lIns="18288" rIns="18288" tIns="18288" bIns="18288">
            <a:spAutoFit/>
          </a:bodyPr>
          <a:lstStyle/>
          <a:p>
            <a:pPr>
              <a:spcAft>
                <a:spcPts val="500"/>
              </a:spcAft>
              <a:defRPr sz="1500" b="0">
                <a:solidFill>
                  <a:srgbClr val="1B222B"/>
                </a:solidFill>
                <a:latin typeface="Aptos"/>
              </a:defRPr>
            </a:pPr>
            <a:r>
              <a:t>User control</a:t>
            </a:r>
          </a:p>
        </p:txBody>
      </p:sp>
      <p:sp>
        <p:nvSpPr>
          <p:cNvPr id="29" name="TextBox 28"/>
          <p:cNvSpPr txBox="1"/>
          <p:nvPr/>
        </p:nvSpPr>
        <p:spPr>
          <a:xfrm>
            <a:off x="6656832" y="3236976"/>
            <a:ext cx="3355848" cy="310896"/>
          </a:xfrm>
          <a:prstGeom prst="rect">
            <a:avLst/>
          </a:prstGeom>
          <a:noFill/>
        </p:spPr>
        <p:txBody>
          <a:bodyPr wrap="square" lIns="18288" rIns="18288" tIns="18288" bIns="18288">
            <a:spAutoFit/>
          </a:bodyPr>
          <a:lstStyle/>
          <a:p>
            <a:pPr>
              <a:spcAft>
                <a:spcPts val="500"/>
              </a:spcAft>
              <a:defRPr sz="1400" b="0">
                <a:solidFill>
                  <a:srgbClr val="1B222B"/>
                </a:solidFill>
                <a:latin typeface="Aptos"/>
              </a:defRPr>
            </a:pPr>
            <a:r>
              <a:t>Change links at review</a:t>
            </a:r>
          </a:p>
        </p:txBody>
      </p:sp>
      <p:sp>
        <p:nvSpPr>
          <p:cNvPr id="30" name="TextBox 29"/>
          <p:cNvSpPr txBox="1"/>
          <p:nvPr/>
        </p:nvSpPr>
        <p:spPr>
          <a:xfrm>
            <a:off x="10213848" y="3236976"/>
            <a:ext cx="914400" cy="310896"/>
          </a:xfrm>
          <a:prstGeom prst="rect">
            <a:avLst/>
          </a:prstGeom>
          <a:noFill/>
        </p:spPr>
        <p:txBody>
          <a:bodyPr wrap="square" lIns="18288" rIns="18288" tIns="18288" bIns="18288">
            <a:spAutoFit/>
          </a:bodyPr>
          <a:lstStyle/>
          <a:p>
            <a:pPr>
              <a:spcAft>
                <a:spcPts val="500"/>
              </a:spcAft>
              <a:defRPr sz="1500" b="0">
                <a:solidFill>
                  <a:srgbClr val="1B222B"/>
                </a:solidFill>
                <a:latin typeface="Aptos"/>
              </a:defRPr>
            </a:pPr>
            <a:r>
              <a:t>3/4</a:t>
            </a:r>
          </a:p>
        </p:txBody>
      </p:sp>
      <p:sp>
        <p:nvSpPr>
          <p:cNvPr id="31" name="Rectangle 30"/>
          <p:cNvSpPr/>
          <p:nvPr/>
        </p:nvSpPr>
        <p:spPr>
          <a:xfrm>
            <a:off x="722376" y="3730752"/>
            <a:ext cx="10570464" cy="521207"/>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8" y="3840480"/>
            <a:ext cx="438912" cy="310896"/>
          </a:xfrm>
          <a:prstGeom prst="rect">
            <a:avLst/>
          </a:prstGeom>
          <a:noFill/>
        </p:spPr>
        <p:txBody>
          <a:bodyPr wrap="square" lIns="18288" rIns="18288" tIns="18288" bIns="18288">
            <a:spAutoFit/>
          </a:bodyPr>
          <a:lstStyle/>
          <a:p>
            <a:pPr>
              <a:spcAft>
                <a:spcPts val="500"/>
              </a:spcAft>
              <a:defRPr sz="1500" b="0">
                <a:solidFill>
                  <a:srgbClr val="1B222B"/>
                </a:solidFill>
                <a:latin typeface="Aptos"/>
              </a:defRPr>
            </a:pPr>
            <a:r>
              <a:t>04</a:t>
            </a:r>
          </a:p>
        </p:txBody>
      </p:sp>
      <p:sp>
        <p:nvSpPr>
          <p:cNvPr id="33" name="TextBox 32"/>
          <p:cNvSpPr txBox="1"/>
          <p:nvPr/>
        </p:nvSpPr>
        <p:spPr>
          <a:xfrm>
            <a:off x="1261872" y="3840480"/>
            <a:ext cx="2834640" cy="310896"/>
          </a:xfrm>
          <a:prstGeom prst="rect">
            <a:avLst/>
          </a:prstGeom>
          <a:noFill/>
        </p:spPr>
        <p:txBody>
          <a:bodyPr wrap="square" lIns="18288" rIns="18288" tIns="18288" bIns="18288">
            <a:spAutoFit/>
          </a:bodyPr>
          <a:lstStyle/>
          <a:p>
            <a:pPr>
              <a:spcAft>
                <a:spcPts val="500"/>
              </a:spcAft>
              <a:defRPr sz="1600" b="0">
                <a:solidFill>
                  <a:srgbClr val="1B222B"/>
                </a:solidFill>
                <a:latin typeface="Aptos"/>
              </a:defRPr>
            </a:pPr>
            <a:r>
              <a:t>Payment language</a:t>
            </a:r>
          </a:p>
        </p:txBody>
      </p:sp>
      <p:sp>
        <p:nvSpPr>
          <p:cNvPr id="34" name="TextBox 33"/>
          <p:cNvSpPr txBox="1"/>
          <p:nvPr/>
        </p:nvSpPr>
        <p:spPr>
          <a:xfrm>
            <a:off x="4160520" y="3840480"/>
            <a:ext cx="2450592" cy="310896"/>
          </a:xfrm>
          <a:prstGeom prst="rect">
            <a:avLst/>
          </a:prstGeom>
          <a:noFill/>
        </p:spPr>
        <p:txBody>
          <a:bodyPr wrap="square" lIns="18288" rIns="18288" tIns="18288" bIns="18288">
            <a:spAutoFit/>
          </a:bodyPr>
          <a:lstStyle/>
          <a:p>
            <a:pPr>
              <a:spcAft>
                <a:spcPts val="500"/>
              </a:spcAft>
              <a:defRPr sz="1500" b="0">
                <a:solidFill>
                  <a:srgbClr val="1B222B"/>
                </a:solidFill>
                <a:latin typeface="Aptos"/>
              </a:defRPr>
            </a:pPr>
            <a:r>
              <a:t>Real-world match</a:t>
            </a:r>
          </a:p>
        </p:txBody>
      </p:sp>
      <p:sp>
        <p:nvSpPr>
          <p:cNvPr id="35" name="TextBox 34"/>
          <p:cNvSpPr txBox="1"/>
          <p:nvPr/>
        </p:nvSpPr>
        <p:spPr>
          <a:xfrm>
            <a:off x="6656832" y="3840480"/>
            <a:ext cx="3355848" cy="310896"/>
          </a:xfrm>
          <a:prstGeom prst="rect">
            <a:avLst/>
          </a:prstGeom>
          <a:noFill/>
        </p:spPr>
        <p:txBody>
          <a:bodyPr wrap="square" lIns="18288" rIns="18288" tIns="18288" bIns="18288">
            <a:spAutoFit/>
          </a:bodyPr>
          <a:lstStyle/>
          <a:p>
            <a:pPr>
              <a:spcAft>
                <a:spcPts val="500"/>
              </a:spcAft>
              <a:defRPr sz="1400" b="0">
                <a:solidFill>
                  <a:srgbClr val="1B222B"/>
                </a:solidFill>
                <a:latin typeface="Aptos"/>
              </a:defRPr>
            </a:pPr>
            <a:r>
              <a:t>Card, UPI, COD labels</a:t>
            </a:r>
          </a:p>
        </p:txBody>
      </p:sp>
      <p:sp>
        <p:nvSpPr>
          <p:cNvPr id="36" name="TextBox 35"/>
          <p:cNvSpPr txBox="1"/>
          <p:nvPr/>
        </p:nvSpPr>
        <p:spPr>
          <a:xfrm>
            <a:off x="10213848" y="3840480"/>
            <a:ext cx="914400" cy="310896"/>
          </a:xfrm>
          <a:prstGeom prst="rect">
            <a:avLst/>
          </a:prstGeom>
          <a:noFill/>
        </p:spPr>
        <p:txBody>
          <a:bodyPr wrap="square" lIns="18288" rIns="18288" tIns="18288" bIns="18288">
            <a:spAutoFit/>
          </a:bodyPr>
          <a:lstStyle/>
          <a:p>
            <a:pPr>
              <a:spcAft>
                <a:spcPts val="500"/>
              </a:spcAft>
              <a:defRPr sz="1500" b="0">
                <a:solidFill>
                  <a:srgbClr val="1B222B"/>
                </a:solidFill>
                <a:latin typeface="Aptos"/>
              </a:defRPr>
            </a:pPr>
            <a:r>
              <a:t>2/4</a:t>
            </a:r>
          </a:p>
        </p:txBody>
      </p:sp>
      <p:sp>
        <p:nvSpPr>
          <p:cNvPr id="37" name="Rectangle 36"/>
          <p:cNvSpPr/>
          <p:nvPr/>
        </p:nvSpPr>
        <p:spPr>
          <a:xfrm>
            <a:off x="722376" y="4334256"/>
            <a:ext cx="10570464" cy="521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5528" y="4443984"/>
            <a:ext cx="438912" cy="310896"/>
          </a:xfrm>
          <a:prstGeom prst="rect">
            <a:avLst/>
          </a:prstGeom>
          <a:noFill/>
        </p:spPr>
        <p:txBody>
          <a:bodyPr wrap="square" lIns="18288" rIns="18288" tIns="18288" bIns="18288">
            <a:spAutoFit/>
          </a:bodyPr>
          <a:lstStyle/>
          <a:p>
            <a:pPr>
              <a:spcAft>
                <a:spcPts val="500"/>
              </a:spcAft>
              <a:defRPr sz="1500" b="0">
                <a:solidFill>
                  <a:srgbClr val="1B222B"/>
                </a:solidFill>
                <a:latin typeface="Aptos"/>
              </a:defRPr>
            </a:pPr>
            <a:r>
              <a:t>05</a:t>
            </a:r>
          </a:p>
        </p:txBody>
      </p:sp>
      <p:sp>
        <p:nvSpPr>
          <p:cNvPr id="39" name="TextBox 38"/>
          <p:cNvSpPr txBox="1"/>
          <p:nvPr/>
        </p:nvSpPr>
        <p:spPr>
          <a:xfrm>
            <a:off x="1261872" y="4443984"/>
            <a:ext cx="2834640" cy="310896"/>
          </a:xfrm>
          <a:prstGeom prst="rect">
            <a:avLst/>
          </a:prstGeom>
          <a:noFill/>
        </p:spPr>
        <p:txBody>
          <a:bodyPr wrap="square" lIns="18288" rIns="18288" tIns="18288" bIns="18288">
            <a:spAutoFit/>
          </a:bodyPr>
          <a:lstStyle/>
          <a:p>
            <a:pPr>
              <a:spcAft>
                <a:spcPts val="500"/>
              </a:spcAft>
              <a:defRPr sz="1600" b="0">
                <a:solidFill>
                  <a:srgbClr val="1B222B"/>
                </a:solidFill>
                <a:latin typeface="Aptos"/>
              </a:defRPr>
            </a:pPr>
            <a:r>
              <a:t>Failure recovery</a:t>
            </a:r>
          </a:p>
        </p:txBody>
      </p:sp>
      <p:sp>
        <p:nvSpPr>
          <p:cNvPr id="40" name="TextBox 39"/>
          <p:cNvSpPr txBox="1"/>
          <p:nvPr/>
        </p:nvSpPr>
        <p:spPr>
          <a:xfrm>
            <a:off x="4160520" y="4443984"/>
            <a:ext cx="2450592" cy="310896"/>
          </a:xfrm>
          <a:prstGeom prst="rect">
            <a:avLst/>
          </a:prstGeom>
          <a:noFill/>
        </p:spPr>
        <p:txBody>
          <a:bodyPr wrap="square" lIns="18288" rIns="18288" tIns="18288" bIns="18288">
            <a:spAutoFit/>
          </a:bodyPr>
          <a:lstStyle/>
          <a:p>
            <a:pPr>
              <a:spcAft>
                <a:spcPts val="500"/>
              </a:spcAft>
              <a:defRPr sz="1500" b="0">
                <a:solidFill>
                  <a:srgbClr val="1B222B"/>
                </a:solidFill>
                <a:latin typeface="Aptos"/>
              </a:defRPr>
            </a:pPr>
            <a:r>
              <a:t>Error recovery</a:t>
            </a:r>
          </a:p>
        </p:txBody>
      </p:sp>
      <p:sp>
        <p:nvSpPr>
          <p:cNvPr id="41" name="TextBox 40"/>
          <p:cNvSpPr txBox="1"/>
          <p:nvPr/>
        </p:nvSpPr>
        <p:spPr>
          <a:xfrm>
            <a:off x="6656832" y="4443984"/>
            <a:ext cx="3355848" cy="310896"/>
          </a:xfrm>
          <a:prstGeom prst="rect">
            <a:avLst/>
          </a:prstGeom>
          <a:noFill/>
        </p:spPr>
        <p:txBody>
          <a:bodyPr wrap="square" lIns="18288" rIns="18288" tIns="18288" bIns="18288">
            <a:spAutoFit/>
          </a:bodyPr>
          <a:lstStyle/>
          <a:p>
            <a:pPr>
              <a:spcAft>
                <a:spcPts val="500"/>
              </a:spcAft>
              <a:defRPr sz="1400" b="0">
                <a:solidFill>
                  <a:srgbClr val="1B222B"/>
                </a:solidFill>
                <a:latin typeface="Aptos"/>
              </a:defRPr>
            </a:pPr>
            <a:r>
              <a:t>Failure evidence missing</a:t>
            </a:r>
          </a:p>
        </p:txBody>
      </p:sp>
      <p:sp>
        <p:nvSpPr>
          <p:cNvPr id="42" name="TextBox 41"/>
          <p:cNvSpPr txBox="1"/>
          <p:nvPr/>
        </p:nvSpPr>
        <p:spPr>
          <a:xfrm>
            <a:off x="10213848" y="4443984"/>
            <a:ext cx="914400" cy="310896"/>
          </a:xfrm>
          <a:prstGeom prst="rect">
            <a:avLst/>
          </a:prstGeom>
          <a:noFill/>
        </p:spPr>
        <p:txBody>
          <a:bodyPr wrap="square" lIns="18288" rIns="18288" tIns="18288" bIns="18288">
            <a:spAutoFit/>
          </a:bodyPr>
          <a:lstStyle/>
          <a:p>
            <a:pPr>
              <a:spcAft>
                <a:spcPts val="500"/>
              </a:spcAft>
              <a:defRPr sz="1500" b="0">
                <a:solidFill>
                  <a:srgbClr val="1B222B"/>
                </a:solidFill>
                <a:latin typeface="Aptos"/>
              </a:defRPr>
            </a:pPr>
            <a:r>
              <a:t>4/4</a:t>
            </a:r>
          </a:p>
        </p:txBody>
      </p:sp>
      <p:sp>
        <p:nvSpPr>
          <p:cNvPr id="43" name="Rectangle 42"/>
          <p:cNvSpPr/>
          <p:nvPr/>
        </p:nvSpPr>
        <p:spPr>
          <a:xfrm>
            <a:off x="722376" y="4937760"/>
            <a:ext cx="10570464" cy="521207"/>
          </a:xfrm>
          <a:prstGeom prst="rect">
            <a:avLst/>
          </a:prstGeom>
          <a:solidFill>
            <a:srgbClr val="FA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95528" y="5047488"/>
            <a:ext cx="438912" cy="310896"/>
          </a:xfrm>
          <a:prstGeom prst="rect">
            <a:avLst/>
          </a:prstGeom>
          <a:noFill/>
        </p:spPr>
        <p:txBody>
          <a:bodyPr wrap="square" lIns="18288" rIns="18288" tIns="18288" bIns="18288">
            <a:spAutoFit/>
          </a:bodyPr>
          <a:lstStyle/>
          <a:p>
            <a:pPr>
              <a:spcAft>
                <a:spcPts val="500"/>
              </a:spcAft>
              <a:defRPr sz="1500" b="0">
                <a:solidFill>
                  <a:srgbClr val="1B222B"/>
                </a:solidFill>
                <a:latin typeface="Aptos"/>
              </a:defRPr>
            </a:pPr>
            <a:r>
              <a:t>06</a:t>
            </a:r>
          </a:p>
        </p:txBody>
      </p:sp>
      <p:sp>
        <p:nvSpPr>
          <p:cNvPr id="45" name="TextBox 44"/>
          <p:cNvSpPr txBox="1"/>
          <p:nvPr/>
        </p:nvSpPr>
        <p:spPr>
          <a:xfrm>
            <a:off x="1261872" y="5047488"/>
            <a:ext cx="2834640" cy="310896"/>
          </a:xfrm>
          <a:prstGeom prst="rect">
            <a:avLst/>
          </a:prstGeom>
          <a:noFill/>
        </p:spPr>
        <p:txBody>
          <a:bodyPr wrap="square" lIns="18288" rIns="18288" tIns="18288" bIns="18288">
            <a:spAutoFit/>
          </a:bodyPr>
          <a:lstStyle/>
          <a:p>
            <a:pPr>
              <a:spcAft>
                <a:spcPts val="500"/>
              </a:spcAft>
              <a:defRPr sz="1600" b="0">
                <a:solidFill>
                  <a:srgbClr val="1B222B"/>
                </a:solidFill>
                <a:latin typeface="Aptos"/>
              </a:defRPr>
            </a:pPr>
            <a:r>
              <a:t>Primary control ease</a:t>
            </a:r>
          </a:p>
        </p:txBody>
      </p:sp>
      <p:sp>
        <p:nvSpPr>
          <p:cNvPr id="46" name="TextBox 45"/>
          <p:cNvSpPr txBox="1"/>
          <p:nvPr/>
        </p:nvSpPr>
        <p:spPr>
          <a:xfrm>
            <a:off x="4160520" y="5047488"/>
            <a:ext cx="2450592" cy="310896"/>
          </a:xfrm>
          <a:prstGeom prst="rect">
            <a:avLst/>
          </a:prstGeom>
          <a:noFill/>
        </p:spPr>
        <p:txBody>
          <a:bodyPr wrap="square" lIns="18288" rIns="18288" tIns="18288" bIns="18288">
            <a:spAutoFit/>
          </a:bodyPr>
          <a:lstStyle/>
          <a:p>
            <a:pPr>
              <a:spcAft>
                <a:spcPts val="500"/>
              </a:spcAft>
              <a:defRPr sz="1500" b="0">
                <a:solidFill>
                  <a:srgbClr val="1B222B"/>
                </a:solidFill>
                <a:latin typeface="Aptos"/>
              </a:defRPr>
            </a:pPr>
            <a:r>
              <a:t>Efficiency of use</a:t>
            </a:r>
          </a:p>
        </p:txBody>
      </p:sp>
      <p:sp>
        <p:nvSpPr>
          <p:cNvPr id="47" name="TextBox 46"/>
          <p:cNvSpPr txBox="1"/>
          <p:nvPr/>
        </p:nvSpPr>
        <p:spPr>
          <a:xfrm>
            <a:off x="6656832" y="5047488"/>
            <a:ext cx="3355848" cy="310896"/>
          </a:xfrm>
          <a:prstGeom prst="rect">
            <a:avLst/>
          </a:prstGeom>
          <a:noFill/>
        </p:spPr>
        <p:txBody>
          <a:bodyPr wrap="square" lIns="18288" rIns="18288" tIns="18288" bIns="18288">
            <a:spAutoFit/>
          </a:bodyPr>
          <a:lstStyle/>
          <a:p>
            <a:pPr>
              <a:spcAft>
                <a:spcPts val="500"/>
              </a:spcAft>
              <a:defRPr sz="1400" b="0">
                <a:solidFill>
                  <a:srgbClr val="1B222B"/>
                </a:solidFill>
                <a:latin typeface="Aptos"/>
              </a:defRPr>
            </a:pPr>
            <a:r>
              <a:t>Controls visible; targets unmeasured</a:t>
            </a:r>
          </a:p>
        </p:txBody>
      </p:sp>
      <p:sp>
        <p:nvSpPr>
          <p:cNvPr id="48" name="TextBox 47"/>
          <p:cNvSpPr txBox="1"/>
          <p:nvPr/>
        </p:nvSpPr>
        <p:spPr>
          <a:xfrm>
            <a:off x="10213848" y="5047488"/>
            <a:ext cx="914400" cy="310896"/>
          </a:xfrm>
          <a:prstGeom prst="rect">
            <a:avLst/>
          </a:prstGeom>
          <a:noFill/>
        </p:spPr>
        <p:txBody>
          <a:bodyPr wrap="square" lIns="18288" rIns="18288" tIns="18288" bIns="18288">
            <a:spAutoFit/>
          </a:bodyPr>
          <a:lstStyle/>
          <a:p>
            <a:pPr>
              <a:spcAft>
                <a:spcPts val="500"/>
              </a:spcAft>
              <a:defRPr sz="1500" b="0">
                <a:solidFill>
                  <a:srgbClr val="1B222B"/>
                </a:solidFill>
                <a:latin typeface="Aptos"/>
              </a:defRPr>
            </a:pPr>
            <a:r>
              <a:t>2/4</a:t>
            </a:r>
          </a:p>
        </p:txBody>
      </p:sp>
      <p:sp>
        <p:nvSpPr>
          <p:cNvPr id="49" name="TextBox 48"/>
          <p:cNvSpPr txBox="1"/>
          <p:nvPr/>
        </p:nvSpPr>
        <p:spPr>
          <a:xfrm>
            <a:off x="768096" y="5824728"/>
            <a:ext cx="10607040" cy="402336"/>
          </a:xfrm>
          <a:prstGeom prst="rect">
            <a:avLst/>
          </a:prstGeom>
          <a:noFill/>
        </p:spPr>
        <p:txBody>
          <a:bodyPr wrap="square" lIns="18288" rIns="18288" tIns="18288" bIns="18288">
            <a:spAutoFit/>
          </a:bodyPr>
          <a:lstStyle/>
          <a:p>
            <a:pPr>
              <a:spcAft>
                <a:spcPts val="500"/>
              </a:spcAft>
              <a:defRPr sz="1500" b="1">
                <a:solidFill>
                  <a:srgbClr val="E37023"/>
                </a:solidFill>
                <a:latin typeface="Aptos"/>
              </a:defRPr>
            </a:pPr>
            <a:r>
              <a:t>All six are hypotheses; severity scores are provisional. No participant usability test has been run.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ectangle 1"/>
          <p:cNvSpPr/>
          <p:nvPr/>
        </p:nvSpPr>
        <p:spPr>
          <a:xfrm>
            <a:off x="502920" y="393192"/>
            <a:ext cx="91440" cy="310896"/>
          </a:xfrm>
          <a:prstGeom prst="rect">
            <a:avLst/>
          </a:prstGeom>
          <a:solidFill>
            <a:srgbClr val="E37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310896"/>
            <a:ext cx="10789920" cy="640080"/>
          </a:xfrm>
          <a:prstGeom prst="rect">
            <a:avLst/>
          </a:prstGeom>
          <a:noFill/>
        </p:spPr>
        <p:txBody>
          <a:bodyPr wrap="square" lIns="18288" rIns="18288" tIns="18288" bIns="18288">
            <a:spAutoFit/>
          </a:bodyPr>
          <a:lstStyle/>
          <a:p>
            <a:pPr>
              <a:spcAft>
                <a:spcPts val="500"/>
              </a:spcAft>
              <a:defRPr sz="2900" b="1">
                <a:solidFill>
                  <a:srgbClr val="1B222B"/>
                </a:solidFill>
                <a:latin typeface="Aptos"/>
              </a:defRPr>
            </a:pPr>
            <a:r>
              <a:t>UX laws as design considerations</a:t>
            </a:r>
          </a:p>
        </p:txBody>
      </p:sp>
      <p:sp>
        <p:nvSpPr>
          <p:cNvPr id="4" name="Rectangle 3"/>
          <p:cNvSpPr/>
          <p:nvPr/>
        </p:nvSpPr>
        <p:spPr>
          <a:xfrm>
            <a:off x="594360" y="6492240"/>
            <a:ext cx="11018520" cy="10972"/>
          </a:xfrm>
          <a:prstGeom prst="rect">
            <a:avLst/>
          </a:prstGeom>
          <a:solidFill>
            <a:srgbClr val="DA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556248"/>
            <a:ext cx="9875520" cy="182880"/>
          </a:xfrm>
          <a:prstGeom prst="rect">
            <a:avLst/>
          </a:prstGeom>
          <a:noFill/>
        </p:spPr>
        <p:txBody>
          <a:bodyPr wrap="square" lIns="18288" rIns="18288" tIns="18288" bIns="18288">
            <a:spAutoFit/>
          </a:bodyPr>
          <a:lstStyle/>
          <a:p>
            <a:pPr>
              <a:spcAft>
                <a:spcPts val="500"/>
              </a:spcAft>
              <a:defRPr sz="800" b="0">
                <a:solidFill>
                  <a:srgbClr val="56606B"/>
                </a:solidFill>
                <a:latin typeface="Aptos"/>
              </a:defRPr>
            </a:pPr>
            <a:r>
              <a:t>AMAZON INDIA WEB CHECKOUT  /  INDEPENDENT EDUCATIONAL STUDY</a:t>
            </a:r>
          </a:p>
        </p:txBody>
      </p:sp>
      <p:sp>
        <p:nvSpPr>
          <p:cNvPr id="6" name="TextBox 5"/>
          <p:cNvSpPr txBox="1"/>
          <p:nvPr/>
        </p:nvSpPr>
        <p:spPr>
          <a:xfrm>
            <a:off x="10652760" y="6547104"/>
            <a:ext cx="868680" cy="182880"/>
          </a:xfrm>
          <a:prstGeom prst="rect">
            <a:avLst/>
          </a:prstGeom>
          <a:noFill/>
        </p:spPr>
        <p:txBody>
          <a:bodyPr wrap="square" lIns="18288" rIns="18288" tIns="18288" bIns="18288">
            <a:spAutoFit/>
          </a:bodyPr>
          <a:lstStyle/>
          <a:p>
            <a:pPr algn="r">
              <a:spcAft>
                <a:spcPts val="500"/>
              </a:spcAft>
              <a:defRPr sz="800" b="0">
                <a:solidFill>
                  <a:srgbClr val="56606B"/>
                </a:solidFill>
                <a:latin typeface="Aptos"/>
              </a:defRPr>
            </a:pPr>
            <a:r>
              <a:t>05 / 07</a:t>
            </a:r>
          </a:p>
        </p:txBody>
      </p:sp>
      <p:sp>
        <p:nvSpPr>
          <p:cNvPr id="7" name="Rounded Rectangle 6"/>
          <p:cNvSpPr/>
          <p:nvPr/>
        </p:nvSpPr>
        <p:spPr>
          <a:xfrm>
            <a:off x="768096" y="1344168"/>
            <a:ext cx="3493008" cy="4416552"/>
          </a:xfrm>
          <a:prstGeom prst="roundRect">
            <a:avLst/>
          </a:prstGeom>
          <a:solidFill>
            <a:srgbClr val="FFFFFF"/>
          </a:solidFill>
          <a:ln>
            <a:solidFill>
              <a:srgbClr val="DA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344168"/>
            <a:ext cx="3493008" cy="73152"/>
          </a:xfrm>
          <a:prstGeom prst="rect">
            <a:avLst/>
          </a:prstGeom>
          <a:solidFill>
            <a:srgbClr val="E37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5" y="1673352"/>
            <a:ext cx="3072384" cy="502920"/>
          </a:xfrm>
          <a:prstGeom prst="rect">
            <a:avLst/>
          </a:prstGeom>
          <a:noFill/>
        </p:spPr>
        <p:txBody>
          <a:bodyPr wrap="square" lIns="18288" rIns="18288" tIns="18288" bIns="18288">
            <a:spAutoFit/>
          </a:bodyPr>
          <a:lstStyle/>
          <a:p>
            <a:pPr>
              <a:spcAft>
                <a:spcPts val="500"/>
              </a:spcAft>
              <a:defRPr sz="2400" b="1">
                <a:solidFill>
                  <a:srgbClr val="1B222B"/>
                </a:solidFill>
                <a:latin typeface="Aptos"/>
              </a:defRPr>
            </a:pPr>
            <a:r>
              <a:t>Hick’s Law</a:t>
            </a:r>
          </a:p>
        </p:txBody>
      </p:sp>
      <p:sp>
        <p:nvSpPr>
          <p:cNvPr id="10" name="TextBox 9"/>
          <p:cNvSpPr txBox="1"/>
          <p:nvPr/>
        </p:nvSpPr>
        <p:spPr>
          <a:xfrm>
            <a:off x="996695" y="2221992"/>
            <a:ext cx="3017520" cy="310896"/>
          </a:xfrm>
          <a:prstGeom prst="rect">
            <a:avLst/>
          </a:prstGeom>
          <a:noFill/>
        </p:spPr>
        <p:txBody>
          <a:bodyPr wrap="square" lIns="18288" rIns="18288" tIns="18288" bIns="18288">
            <a:spAutoFit/>
          </a:bodyPr>
          <a:lstStyle/>
          <a:p>
            <a:pPr>
              <a:spcAft>
                <a:spcPts val="500"/>
              </a:spcAft>
              <a:defRPr sz="1300" b="1">
                <a:solidFill>
                  <a:srgbClr val="E37023"/>
                </a:solidFill>
                <a:latin typeface="Aptos"/>
              </a:defRPr>
            </a:pPr>
            <a:r>
              <a:t>UX-02  ·  HYPOTHESIS</a:t>
            </a:r>
          </a:p>
        </p:txBody>
      </p:sp>
      <p:sp>
        <p:nvSpPr>
          <p:cNvPr id="11" name="TextBox 10"/>
          <p:cNvSpPr txBox="1"/>
          <p:nvPr/>
        </p:nvSpPr>
        <p:spPr>
          <a:xfrm>
            <a:off x="996695" y="2715768"/>
            <a:ext cx="3035808" cy="914400"/>
          </a:xfrm>
          <a:prstGeom prst="rect">
            <a:avLst/>
          </a:prstGeom>
          <a:noFill/>
        </p:spPr>
        <p:txBody>
          <a:bodyPr wrap="square" lIns="18288" rIns="18288" tIns="18288" bIns="18288">
            <a:spAutoFit/>
          </a:bodyPr>
          <a:lstStyle/>
          <a:p>
            <a:pPr>
              <a:spcAft>
                <a:spcPts val="500"/>
              </a:spcAft>
              <a:defRPr sz="1700" b="0">
                <a:solidFill>
                  <a:srgbClr val="1B222B"/>
                </a:solidFill>
                <a:latin typeface="Aptos"/>
              </a:defRPr>
            </a:pPr>
            <a:r>
              <a:t>Many choices can slow decisions.</a:t>
            </a:r>
          </a:p>
        </p:txBody>
      </p:sp>
      <p:sp>
        <p:nvSpPr>
          <p:cNvPr id="12" name="TextBox 11"/>
          <p:cNvSpPr txBox="1"/>
          <p:nvPr/>
        </p:nvSpPr>
        <p:spPr>
          <a:xfrm>
            <a:off x="996695" y="3657600"/>
            <a:ext cx="3035808" cy="1097280"/>
          </a:xfrm>
          <a:prstGeom prst="rect">
            <a:avLst/>
          </a:prstGeom>
          <a:noFill/>
        </p:spPr>
        <p:txBody>
          <a:bodyPr wrap="square" lIns="18288" rIns="18288" tIns="18288" bIns="18288">
            <a:spAutoFit/>
          </a:bodyPr>
          <a:lstStyle/>
          <a:p>
            <a:pPr>
              <a:spcAft>
                <a:spcPts val="500"/>
              </a:spcAft>
              <a:defRPr sz="1700" b="0">
                <a:solidFill>
                  <a:srgbClr val="56606B"/>
                </a:solidFill>
                <a:latin typeface="Aptos"/>
              </a:defRPr>
            </a:pPr>
            <a:r>
              <a:t>Group delivery and payment choices; reveal secondary details when needed.</a:t>
            </a:r>
          </a:p>
        </p:txBody>
      </p:sp>
      <p:sp>
        <p:nvSpPr>
          <p:cNvPr id="13" name="TextBox 12"/>
          <p:cNvSpPr txBox="1"/>
          <p:nvPr/>
        </p:nvSpPr>
        <p:spPr>
          <a:xfrm>
            <a:off x="996695" y="5184648"/>
            <a:ext cx="3035808" cy="320040"/>
          </a:xfrm>
          <a:prstGeom prst="rect">
            <a:avLst/>
          </a:prstGeom>
          <a:noFill/>
        </p:spPr>
        <p:txBody>
          <a:bodyPr wrap="square" lIns="18288" rIns="18288" tIns="18288" bIns="18288">
            <a:spAutoFit/>
          </a:bodyPr>
          <a:lstStyle/>
          <a:p>
            <a:pPr>
              <a:spcAft>
                <a:spcPts val="500"/>
              </a:spcAft>
              <a:defRPr sz="1400" b="1">
                <a:solidFill>
                  <a:srgbClr val="E37023"/>
                </a:solidFill>
                <a:latin typeface="Aptos"/>
              </a:defRPr>
            </a:pPr>
            <a:r>
              <a:t>Measure selection time.</a:t>
            </a:r>
          </a:p>
        </p:txBody>
      </p:sp>
      <p:sp>
        <p:nvSpPr>
          <p:cNvPr id="14" name="Rounded Rectangle 13"/>
          <p:cNvSpPr/>
          <p:nvPr/>
        </p:nvSpPr>
        <p:spPr>
          <a:xfrm>
            <a:off x="4535424" y="1344168"/>
            <a:ext cx="3493008" cy="4416552"/>
          </a:xfrm>
          <a:prstGeom prst="roundRect">
            <a:avLst/>
          </a:prstGeom>
          <a:solidFill>
            <a:srgbClr val="FFFFFF"/>
          </a:solidFill>
          <a:ln>
            <a:solidFill>
              <a:srgbClr val="DA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35424" y="1344168"/>
            <a:ext cx="3493008" cy="73152"/>
          </a:xfrm>
          <a:prstGeom prst="rect">
            <a:avLst/>
          </a:prstGeom>
          <a:solidFill>
            <a:srgbClr val="E37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64024" y="1673352"/>
            <a:ext cx="3072384" cy="502920"/>
          </a:xfrm>
          <a:prstGeom prst="rect">
            <a:avLst/>
          </a:prstGeom>
          <a:noFill/>
        </p:spPr>
        <p:txBody>
          <a:bodyPr wrap="square" lIns="18288" rIns="18288" tIns="18288" bIns="18288">
            <a:spAutoFit/>
          </a:bodyPr>
          <a:lstStyle/>
          <a:p>
            <a:pPr>
              <a:spcAft>
                <a:spcPts val="500"/>
              </a:spcAft>
              <a:defRPr sz="2400" b="1">
                <a:solidFill>
                  <a:srgbClr val="1B222B"/>
                </a:solidFill>
                <a:latin typeface="Aptos"/>
              </a:defRPr>
            </a:pPr>
            <a:r>
              <a:t>Fitts’s Law</a:t>
            </a:r>
          </a:p>
        </p:txBody>
      </p:sp>
      <p:sp>
        <p:nvSpPr>
          <p:cNvPr id="17" name="TextBox 16"/>
          <p:cNvSpPr txBox="1"/>
          <p:nvPr/>
        </p:nvSpPr>
        <p:spPr>
          <a:xfrm>
            <a:off x="4764024" y="2221992"/>
            <a:ext cx="3017520" cy="310896"/>
          </a:xfrm>
          <a:prstGeom prst="rect">
            <a:avLst/>
          </a:prstGeom>
          <a:noFill/>
        </p:spPr>
        <p:txBody>
          <a:bodyPr wrap="square" lIns="18288" rIns="18288" tIns="18288" bIns="18288">
            <a:spAutoFit/>
          </a:bodyPr>
          <a:lstStyle/>
          <a:p>
            <a:pPr>
              <a:spcAft>
                <a:spcPts val="500"/>
              </a:spcAft>
              <a:defRPr sz="1300" b="1">
                <a:solidFill>
                  <a:srgbClr val="E37023"/>
                </a:solidFill>
                <a:latin typeface="Aptos"/>
              </a:defRPr>
            </a:pPr>
            <a:r>
              <a:t>UX-06  ·  HYPOTHESIS</a:t>
            </a:r>
          </a:p>
        </p:txBody>
      </p:sp>
      <p:sp>
        <p:nvSpPr>
          <p:cNvPr id="18" name="TextBox 17"/>
          <p:cNvSpPr txBox="1"/>
          <p:nvPr/>
        </p:nvSpPr>
        <p:spPr>
          <a:xfrm>
            <a:off x="4764024" y="2715768"/>
            <a:ext cx="3035808" cy="914400"/>
          </a:xfrm>
          <a:prstGeom prst="rect">
            <a:avLst/>
          </a:prstGeom>
          <a:noFill/>
        </p:spPr>
        <p:txBody>
          <a:bodyPr wrap="square" lIns="18288" rIns="18288" tIns="18288" bIns="18288">
            <a:spAutoFit/>
          </a:bodyPr>
          <a:lstStyle/>
          <a:p>
            <a:pPr>
              <a:spcAft>
                <a:spcPts val="500"/>
              </a:spcAft>
              <a:defRPr sz="1700" b="0">
                <a:solidFill>
                  <a:srgbClr val="1B222B"/>
                </a:solidFill>
                <a:latin typeface="Aptos"/>
              </a:defRPr>
            </a:pPr>
            <a:r>
              <a:t>Small or distant controls take more effort to acquire.</a:t>
            </a:r>
          </a:p>
        </p:txBody>
      </p:sp>
      <p:sp>
        <p:nvSpPr>
          <p:cNvPr id="19" name="TextBox 18"/>
          <p:cNvSpPr txBox="1"/>
          <p:nvPr/>
        </p:nvSpPr>
        <p:spPr>
          <a:xfrm>
            <a:off x="4764024" y="3657600"/>
            <a:ext cx="3035808" cy="1097280"/>
          </a:xfrm>
          <a:prstGeom prst="rect">
            <a:avLst/>
          </a:prstGeom>
          <a:noFill/>
        </p:spPr>
        <p:txBody>
          <a:bodyPr wrap="square" lIns="18288" rIns="18288" tIns="18288" bIns="18288">
            <a:spAutoFit/>
          </a:bodyPr>
          <a:lstStyle/>
          <a:p>
            <a:pPr>
              <a:spcAft>
                <a:spcPts val="500"/>
              </a:spcAft>
              <a:defRPr sz="1700" b="0">
                <a:solidFill>
                  <a:srgbClr val="56606B"/>
                </a:solidFill>
                <a:latin typeface="Aptos"/>
              </a:defRPr>
            </a:pPr>
            <a:r>
              <a:t>Use clear, adequately sized primary and Edit controls.</a:t>
            </a:r>
          </a:p>
        </p:txBody>
      </p:sp>
      <p:sp>
        <p:nvSpPr>
          <p:cNvPr id="20" name="TextBox 19"/>
          <p:cNvSpPr txBox="1"/>
          <p:nvPr/>
        </p:nvSpPr>
        <p:spPr>
          <a:xfrm>
            <a:off x="4764024" y="5184648"/>
            <a:ext cx="3035808" cy="320040"/>
          </a:xfrm>
          <a:prstGeom prst="rect">
            <a:avLst/>
          </a:prstGeom>
          <a:noFill/>
        </p:spPr>
        <p:txBody>
          <a:bodyPr wrap="square" lIns="18288" rIns="18288" tIns="18288" bIns="18288">
            <a:spAutoFit/>
          </a:bodyPr>
          <a:lstStyle/>
          <a:p>
            <a:pPr>
              <a:spcAft>
                <a:spcPts val="500"/>
              </a:spcAft>
              <a:defRPr sz="1400" b="1">
                <a:solidFill>
                  <a:srgbClr val="E37023"/>
                </a:solidFill>
                <a:latin typeface="Aptos"/>
              </a:defRPr>
            </a:pPr>
            <a:r>
              <a:t>Measure missed clicks.</a:t>
            </a:r>
          </a:p>
        </p:txBody>
      </p:sp>
      <p:sp>
        <p:nvSpPr>
          <p:cNvPr id="21" name="Rounded Rectangle 20"/>
          <p:cNvSpPr/>
          <p:nvPr/>
        </p:nvSpPr>
        <p:spPr>
          <a:xfrm>
            <a:off x="8302752" y="1344168"/>
            <a:ext cx="3493008" cy="4416552"/>
          </a:xfrm>
          <a:prstGeom prst="roundRect">
            <a:avLst/>
          </a:prstGeom>
          <a:solidFill>
            <a:srgbClr val="FFFFFF"/>
          </a:solidFill>
          <a:ln>
            <a:solidFill>
              <a:srgbClr val="DA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02752" y="1344168"/>
            <a:ext cx="3493008" cy="73152"/>
          </a:xfrm>
          <a:prstGeom prst="rect">
            <a:avLst/>
          </a:prstGeom>
          <a:solidFill>
            <a:srgbClr val="E37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31352" y="1673352"/>
            <a:ext cx="3072384" cy="502920"/>
          </a:xfrm>
          <a:prstGeom prst="rect">
            <a:avLst/>
          </a:prstGeom>
          <a:noFill/>
        </p:spPr>
        <p:txBody>
          <a:bodyPr wrap="square" lIns="18288" rIns="18288" tIns="18288" bIns="18288">
            <a:spAutoFit/>
          </a:bodyPr>
          <a:lstStyle/>
          <a:p>
            <a:pPr>
              <a:spcAft>
                <a:spcPts val="500"/>
              </a:spcAft>
              <a:defRPr sz="2400" b="1">
                <a:solidFill>
                  <a:srgbClr val="1B222B"/>
                </a:solidFill>
                <a:latin typeface="Aptos"/>
              </a:defRPr>
            </a:pPr>
            <a:r>
              <a:t>Jakob’s Law</a:t>
            </a:r>
          </a:p>
        </p:txBody>
      </p:sp>
      <p:sp>
        <p:nvSpPr>
          <p:cNvPr id="24" name="TextBox 23"/>
          <p:cNvSpPr txBox="1"/>
          <p:nvPr/>
        </p:nvSpPr>
        <p:spPr>
          <a:xfrm>
            <a:off x="8531352" y="2221992"/>
            <a:ext cx="3017520" cy="310896"/>
          </a:xfrm>
          <a:prstGeom prst="rect">
            <a:avLst/>
          </a:prstGeom>
          <a:noFill/>
        </p:spPr>
        <p:txBody>
          <a:bodyPr wrap="square" lIns="18288" rIns="18288" tIns="18288" bIns="18288">
            <a:spAutoFit/>
          </a:bodyPr>
          <a:lstStyle/>
          <a:p>
            <a:pPr>
              <a:spcAft>
                <a:spcPts val="500"/>
              </a:spcAft>
              <a:defRPr sz="1300" b="1">
                <a:solidFill>
                  <a:srgbClr val="E37023"/>
                </a:solidFill>
                <a:latin typeface="Aptos"/>
              </a:defRPr>
            </a:pPr>
            <a:r>
              <a:t>UX-03  ·  HYPOTHESIS</a:t>
            </a:r>
          </a:p>
        </p:txBody>
      </p:sp>
      <p:sp>
        <p:nvSpPr>
          <p:cNvPr id="25" name="TextBox 24"/>
          <p:cNvSpPr txBox="1"/>
          <p:nvPr/>
        </p:nvSpPr>
        <p:spPr>
          <a:xfrm>
            <a:off x="8531352" y="2715768"/>
            <a:ext cx="3035808" cy="914400"/>
          </a:xfrm>
          <a:prstGeom prst="rect">
            <a:avLst/>
          </a:prstGeom>
          <a:noFill/>
        </p:spPr>
        <p:txBody>
          <a:bodyPr wrap="square" lIns="18288" rIns="18288" tIns="18288" bIns="18288">
            <a:spAutoFit/>
          </a:bodyPr>
          <a:lstStyle/>
          <a:p>
            <a:pPr>
              <a:spcAft>
                <a:spcPts val="500"/>
              </a:spcAft>
              <a:defRPr sz="1700" b="0">
                <a:solidFill>
                  <a:srgbClr val="1B222B"/>
                </a:solidFill>
                <a:latin typeface="Aptos"/>
              </a:defRPr>
            </a:pPr>
            <a:r>
              <a:t>Shoppers expect familiar checkout editing patterns.</a:t>
            </a:r>
          </a:p>
        </p:txBody>
      </p:sp>
      <p:sp>
        <p:nvSpPr>
          <p:cNvPr id="26" name="TextBox 25"/>
          <p:cNvSpPr txBox="1"/>
          <p:nvPr/>
        </p:nvSpPr>
        <p:spPr>
          <a:xfrm>
            <a:off x="8531352" y="3657600"/>
            <a:ext cx="3035808" cy="1097280"/>
          </a:xfrm>
          <a:prstGeom prst="rect">
            <a:avLst/>
          </a:prstGeom>
          <a:noFill/>
        </p:spPr>
        <p:txBody>
          <a:bodyPr wrap="square" lIns="18288" rIns="18288" tIns="18288" bIns="18288">
            <a:spAutoFit/>
          </a:bodyPr>
          <a:lstStyle/>
          <a:p>
            <a:pPr>
              <a:spcAft>
                <a:spcPts val="500"/>
              </a:spcAft>
              <a:defRPr sz="1700" b="0">
                <a:solidFill>
                  <a:srgbClr val="56606B"/>
                </a:solidFill>
                <a:latin typeface="Aptos"/>
              </a:defRPr>
            </a:pPr>
            <a:r>
              <a:t>Keep direct Edit links and preserve earlier choices.</a:t>
            </a:r>
          </a:p>
        </p:txBody>
      </p:sp>
      <p:sp>
        <p:nvSpPr>
          <p:cNvPr id="27" name="TextBox 26"/>
          <p:cNvSpPr txBox="1"/>
          <p:nvPr/>
        </p:nvSpPr>
        <p:spPr>
          <a:xfrm>
            <a:off x="8531352" y="5184648"/>
            <a:ext cx="3035808" cy="320040"/>
          </a:xfrm>
          <a:prstGeom prst="rect">
            <a:avLst/>
          </a:prstGeom>
          <a:noFill/>
        </p:spPr>
        <p:txBody>
          <a:bodyPr wrap="square" lIns="18288" rIns="18288" tIns="18288" bIns="18288">
            <a:spAutoFit/>
          </a:bodyPr>
          <a:lstStyle/>
          <a:p>
            <a:pPr>
              <a:spcAft>
                <a:spcPts val="500"/>
              </a:spcAft>
              <a:defRPr sz="1400" b="1">
                <a:solidFill>
                  <a:srgbClr val="E37023"/>
                </a:solidFill>
                <a:latin typeface="Aptos"/>
              </a:defRPr>
            </a:pPr>
            <a:r>
              <a:t>Measure wrong turns.</a:t>
            </a:r>
          </a:p>
        </p:txBody>
      </p:sp>
      <p:sp>
        <p:nvSpPr>
          <p:cNvPr id="28" name="TextBox 27"/>
          <p:cNvSpPr txBox="1"/>
          <p:nvPr/>
        </p:nvSpPr>
        <p:spPr>
          <a:xfrm>
            <a:off x="768096" y="5961888"/>
            <a:ext cx="10789920" cy="365760"/>
          </a:xfrm>
          <a:prstGeom prst="rect">
            <a:avLst/>
          </a:prstGeom>
          <a:noFill/>
        </p:spPr>
        <p:txBody>
          <a:bodyPr wrap="square" lIns="18288" rIns="18288" tIns="18288" bIns="18288">
            <a:spAutoFit/>
          </a:bodyPr>
          <a:lstStyle/>
          <a:p>
            <a:pPr>
              <a:spcAft>
                <a:spcPts val="500"/>
              </a:spcAft>
              <a:defRPr sz="1500" b="0">
                <a:solidFill>
                  <a:srgbClr val="56606B"/>
                </a:solidFill>
                <a:latin typeface="Aptos"/>
              </a:defRPr>
            </a:pPr>
            <a:r>
              <a:t>These laws guide the redesign; the screenshots alone do not establish a violation.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ectangle 1"/>
          <p:cNvSpPr/>
          <p:nvPr/>
        </p:nvSpPr>
        <p:spPr>
          <a:xfrm>
            <a:off x="502920" y="393192"/>
            <a:ext cx="91440" cy="310896"/>
          </a:xfrm>
          <a:prstGeom prst="rect">
            <a:avLst/>
          </a:prstGeom>
          <a:solidFill>
            <a:srgbClr val="E37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310896"/>
            <a:ext cx="10789920" cy="640080"/>
          </a:xfrm>
          <a:prstGeom prst="rect">
            <a:avLst/>
          </a:prstGeom>
          <a:noFill/>
        </p:spPr>
        <p:txBody>
          <a:bodyPr wrap="square" lIns="18288" rIns="18288" tIns="18288" bIns="18288">
            <a:spAutoFit/>
          </a:bodyPr>
          <a:lstStyle/>
          <a:p>
            <a:pPr>
              <a:spcAft>
                <a:spcPts val="500"/>
              </a:spcAft>
              <a:defRPr sz="2900" b="1">
                <a:solidFill>
                  <a:srgbClr val="1B222B"/>
                </a:solidFill>
                <a:latin typeface="Aptos"/>
              </a:defRPr>
            </a:pPr>
            <a:r>
              <a:t>Before / after: review and recovery</a:t>
            </a:r>
          </a:p>
        </p:txBody>
      </p:sp>
      <p:sp>
        <p:nvSpPr>
          <p:cNvPr id="4" name="Rectangle 3"/>
          <p:cNvSpPr/>
          <p:nvPr/>
        </p:nvSpPr>
        <p:spPr>
          <a:xfrm>
            <a:off x="594360" y="6492240"/>
            <a:ext cx="11018520" cy="10972"/>
          </a:xfrm>
          <a:prstGeom prst="rect">
            <a:avLst/>
          </a:prstGeom>
          <a:solidFill>
            <a:srgbClr val="DA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556248"/>
            <a:ext cx="9875520" cy="182880"/>
          </a:xfrm>
          <a:prstGeom prst="rect">
            <a:avLst/>
          </a:prstGeom>
          <a:noFill/>
        </p:spPr>
        <p:txBody>
          <a:bodyPr wrap="square" lIns="18288" rIns="18288" tIns="18288" bIns="18288">
            <a:spAutoFit/>
          </a:bodyPr>
          <a:lstStyle/>
          <a:p>
            <a:pPr>
              <a:spcAft>
                <a:spcPts val="500"/>
              </a:spcAft>
              <a:defRPr sz="800" b="0">
                <a:solidFill>
                  <a:srgbClr val="56606B"/>
                </a:solidFill>
                <a:latin typeface="Aptos"/>
              </a:defRPr>
            </a:pPr>
            <a:r>
              <a:t>AMAZON INDIA WEB CHECKOUT  /  INDEPENDENT EDUCATIONAL STUDY</a:t>
            </a:r>
          </a:p>
        </p:txBody>
      </p:sp>
      <p:sp>
        <p:nvSpPr>
          <p:cNvPr id="6" name="TextBox 5"/>
          <p:cNvSpPr txBox="1"/>
          <p:nvPr/>
        </p:nvSpPr>
        <p:spPr>
          <a:xfrm>
            <a:off x="10652760" y="6547104"/>
            <a:ext cx="868680" cy="182880"/>
          </a:xfrm>
          <a:prstGeom prst="rect">
            <a:avLst/>
          </a:prstGeom>
          <a:noFill/>
        </p:spPr>
        <p:txBody>
          <a:bodyPr wrap="square" lIns="18288" rIns="18288" tIns="18288" bIns="18288">
            <a:spAutoFit/>
          </a:bodyPr>
          <a:lstStyle/>
          <a:p>
            <a:pPr algn="r">
              <a:spcAft>
                <a:spcPts val="500"/>
              </a:spcAft>
              <a:defRPr sz="800" b="0">
                <a:solidFill>
                  <a:srgbClr val="56606B"/>
                </a:solidFill>
                <a:latin typeface="Aptos"/>
              </a:defRPr>
            </a:pPr>
            <a:r>
              <a:t>06 / 07</a:t>
            </a:r>
          </a:p>
        </p:txBody>
      </p:sp>
      <p:sp>
        <p:nvSpPr>
          <p:cNvPr id="7" name="TextBox 6"/>
          <p:cNvSpPr txBox="1"/>
          <p:nvPr/>
        </p:nvSpPr>
        <p:spPr>
          <a:xfrm>
            <a:off x="768096" y="1197864"/>
            <a:ext cx="5257800" cy="365760"/>
          </a:xfrm>
          <a:prstGeom prst="rect">
            <a:avLst/>
          </a:prstGeom>
          <a:noFill/>
        </p:spPr>
        <p:txBody>
          <a:bodyPr wrap="square" lIns="18288" rIns="18288" tIns="18288" bIns="18288">
            <a:spAutoFit/>
          </a:bodyPr>
          <a:lstStyle/>
          <a:p>
            <a:pPr>
              <a:spcAft>
                <a:spcPts val="500"/>
              </a:spcAft>
              <a:defRPr sz="1600" b="1">
                <a:solidFill>
                  <a:srgbClr val="E37023"/>
                </a:solidFill>
                <a:latin typeface="Aptos"/>
              </a:defRPr>
            </a:pPr>
            <a:r>
              <a:t>BEFORE  ·  observed Amazon review</a:t>
            </a:r>
          </a:p>
        </p:txBody>
      </p:sp>
      <p:sp>
        <p:nvSpPr>
          <p:cNvPr id="8" name="Rounded Rectangle 7"/>
          <p:cNvSpPr/>
          <p:nvPr/>
        </p:nvSpPr>
        <p:spPr>
          <a:xfrm>
            <a:off x="749808" y="1627632"/>
            <a:ext cx="5175504" cy="3547872"/>
          </a:xfrm>
          <a:prstGeom prst="roundRect">
            <a:avLst/>
          </a:prstGeom>
          <a:solidFill>
            <a:srgbClr val="FFFFFF"/>
          </a:solidFill>
          <a:ln>
            <a:solidFill>
              <a:srgbClr val="DA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view-total.png"/>
          <p:cNvPicPr>
            <a:picLocks noChangeAspect="1"/>
          </p:cNvPicPr>
          <p:nvPr/>
        </p:nvPicPr>
        <p:blipFill>
          <a:blip r:embed="rId3"/>
          <a:stretch>
            <a:fillRect/>
          </a:stretch>
        </p:blipFill>
        <p:spPr>
          <a:xfrm>
            <a:off x="969264" y="2011680"/>
            <a:ext cx="4681728" cy="1192663"/>
          </a:xfrm>
          <a:prstGeom prst="rect">
            <a:avLst/>
          </a:prstGeom>
        </p:spPr>
      </p:pic>
      <p:sp>
        <p:nvSpPr>
          <p:cNvPr id="10" name="TextBox 9"/>
          <p:cNvSpPr txBox="1"/>
          <p:nvPr/>
        </p:nvSpPr>
        <p:spPr>
          <a:xfrm>
            <a:off x="987552" y="3986784"/>
            <a:ext cx="4526280" cy="960120"/>
          </a:xfrm>
          <a:prstGeom prst="rect">
            <a:avLst/>
          </a:prstGeom>
          <a:noFill/>
        </p:spPr>
        <p:txBody>
          <a:bodyPr wrap="square" lIns="18288" rIns="18288" tIns="18288" bIns="18288">
            <a:spAutoFit/>
          </a:bodyPr>
          <a:lstStyle/>
          <a:p>
            <a:pPr>
              <a:spcAft>
                <a:spcPts val="500"/>
              </a:spcAft>
              <a:defRPr sz="1800" b="0">
                <a:solidFill>
                  <a:srgbClr val="56606B"/>
                </a:solidFill>
                <a:latin typeface="Aptos"/>
              </a:defRPr>
            </a:pPr>
            <a:r>
              <a:t>The ₹7 COD fee and ₹214 final total are visible. Whether shoppers notice the fee is untested.</a:t>
            </a:r>
          </a:p>
        </p:txBody>
      </p:sp>
      <p:sp>
        <p:nvSpPr>
          <p:cNvPr id="11" name="TextBox 10"/>
          <p:cNvSpPr txBox="1"/>
          <p:nvPr/>
        </p:nvSpPr>
        <p:spPr>
          <a:xfrm>
            <a:off x="6309360" y="1197864"/>
            <a:ext cx="5047488" cy="365760"/>
          </a:xfrm>
          <a:prstGeom prst="rect">
            <a:avLst/>
          </a:prstGeom>
          <a:noFill/>
        </p:spPr>
        <p:txBody>
          <a:bodyPr wrap="square" lIns="18288" rIns="18288" tIns="18288" bIns="18288">
            <a:spAutoFit/>
          </a:bodyPr>
          <a:lstStyle/>
          <a:p>
            <a:pPr>
              <a:spcAft>
                <a:spcPts val="500"/>
              </a:spcAft>
              <a:defRPr sz="1600" b="1">
                <a:solidFill>
                  <a:srgbClr val="E37023"/>
                </a:solidFill>
                <a:latin typeface="Aptos"/>
              </a:defRPr>
            </a:pPr>
            <a:r>
              <a:t>AFTER  ·  proposed design concept</a:t>
            </a:r>
          </a:p>
        </p:txBody>
      </p:sp>
      <p:sp>
        <p:nvSpPr>
          <p:cNvPr id="12" name="Rounded Rectangle 11"/>
          <p:cNvSpPr/>
          <p:nvPr/>
        </p:nvSpPr>
        <p:spPr>
          <a:xfrm>
            <a:off x="6272784" y="1627632"/>
            <a:ext cx="5166360" cy="3547872"/>
          </a:xfrm>
          <a:prstGeom prst="roundRect">
            <a:avLst/>
          </a:prstGeom>
          <a:solidFill>
            <a:srgbClr val="FFFFFF"/>
          </a:solidFill>
          <a:ln>
            <a:solidFill>
              <a:srgbClr val="DA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creen-05.png"/>
          <p:cNvPicPr>
            <a:picLocks noChangeAspect="1"/>
          </p:cNvPicPr>
          <p:nvPr/>
        </p:nvPicPr>
        <p:blipFill>
          <a:blip r:embed="rId4"/>
          <a:stretch>
            <a:fillRect/>
          </a:stretch>
        </p:blipFill>
        <p:spPr>
          <a:xfrm>
            <a:off x="6419088" y="1901952"/>
            <a:ext cx="4864608" cy="2736342"/>
          </a:xfrm>
          <a:prstGeom prst="rect">
            <a:avLst/>
          </a:prstGeom>
        </p:spPr>
      </p:pic>
      <p:sp>
        <p:nvSpPr>
          <p:cNvPr id="14" name="TextBox 13"/>
          <p:cNvSpPr txBox="1"/>
          <p:nvPr/>
        </p:nvSpPr>
        <p:spPr>
          <a:xfrm>
            <a:off x="6473952" y="4681728"/>
            <a:ext cx="4690872" cy="320040"/>
          </a:xfrm>
          <a:prstGeom prst="rect">
            <a:avLst/>
          </a:prstGeom>
          <a:noFill/>
        </p:spPr>
        <p:txBody>
          <a:bodyPr wrap="square" lIns="18288" rIns="18288" tIns="18288" bIns="18288">
            <a:spAutoFit/>
          </a:bodyPr>
          <a:lstStyle/>
          <a:p>
            <a:pPr>
              <a:spcAft>
                <a:spcPts val="500"/>
              </a:spcAft>
              <a:defRPr sz="1500" b="1">
                <a:solidFill>
                  <a:srgbClr val="E37023"/>
                </a:solidFill>
                <a:latin typeface="Aptos"/>
              </a:defRPr>
            </a:pPr>
            <a:r>
              <a:t>Clear fee · explicit total · direct Edit actions</a:t>
            </a:r>
          </a:p>
        </p:txBody>
      </p:sp>
      <p:sp>
        <p:nvSpPr>
          <p:cNvPr id="15" name="TextBox 14"/>
          <p:cNvSpPr txBox="1"/>
          <p:nvPr/>
        </p:nvSpPr>
        <p:spPr>
          <a:xfrm>
            <a:off x="777240" y="5641848"/>
            <a:ext cx="10607040" cy="411480"/>
          </a:xfrm>
          <a:prstGeom prst="rect">
            <a:avLst/>
          </a:prstGeom>
          <a:noFill/>
        </p:spPr>
        <p:txBody>
          <a:bodyPr wrap="square" lIns="18288" rIns="18288" tIns="18288" bIns="18288">
            <a:spAutoFit/>
          </a:bodyPr>
          <a:lstStyle/>
          <a:p>
            <a:pPr>
              <a:spcAft>
                <a:spcPts val="500"/>
              </a:spcAft>
              <a:defRPr sz="1700" b="0">
                <a:solidFill>
                  <a:srgbClr val="1B222B"/>
                </a:solidFill>
                <a:latin typeface="Aptos"/>
              </a:defRPr>
            </a:pPr>
            <a:r>
              <a:t>Prototype: kunalmahurkar.is-a.dev/amazon-checkout-prototype/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4"/>
        </a:solidFill>
        <a:effectLst/>
      </p:bgPr>
    </p:bg>
    <p:spTree>
      <p:nvGrpSpPr>
        <p:cNvPr id="1" name=""/>
        <p:cNvGrpSpPr/>
        <p:nvPr/>
      </p:nvGrpSpPr>
      <p:grpSpPr/>
      <p:sp>
        <p:nvSpPr>
          <p:cNvPr id="2" name="Rectangle 1"/>
          <p:cNvSpPr/>
          <p:nvPr/>
        </p:nvSpPr>
        <p:spPr>
          <a:xfrm>
            <a:off x="502920" y="393192"/>
            <a:ext cx="91440" cy="310896"/>
          </a:xfrm>
          <a:prstGeom prst="rect">
            <a:avLst/>
          </a:prstGeom>
          <a:solidFill>
            <a:srgbClr val="E37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8096" y="310896"/>
            <a:ext cx="10789920" cy="640080"/>
          </a:xfrm>
          <a:prstGeom prst="rect">
            <a:avLst/>
          </a:prstGeom>
          <a:noFill/>
        </p:spPr>
        <p:txBody>
          <a:bodyPr wrap="square" lIns="18288" rIns="18288" tIns="18288" bIns="18288">
            <a:spAutoFit/>
          </a:bodyPr>
          <a:lstStyle/>
          <a:p>
            <a:pPr>
              <a:spcAft>
                <a:spcPts val="500"/>
              </a:spcAft>
              <a:defRPr sz="2900" b="1">
                <a:solidFill>
                  <a:srgbClr val="1B222B"/>
                </a:solidFill>
                <a:latin typeface="Aptos"/>
              </a:defRPr>
            </a:pPr>
            <a:r>
              <a:t>Priorities, measures and next test</a:t>
            </a:r>
          </a:p>
        </p:txBody>
      </p:sp>
      <p:sp>
        <p:nvSpPr>
          <p:cNvPr id="4" name="Rectangle 3"/>
          <p:cNvSpPr/>
          <p:nvPr/>
        </p:nvSpPr>
        <p:spPr>
          <a:xfrm>
            <a:off x="594360" y="6492240"/>
            <a:ext cx="11018520" cy="10972"/>
          </a:xfrm>
          <a:prstGeom prst="rect">
            <a:avLst/>
          </a:prstGeom>
          <a:solidFill>
            <a:srgbClr val="DA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6556248"/>
            <a:ext cx="9875520" cy="182880"/>
          </a:xfrm>
          <a:prstGeom prst="rect">
            <a:avLst/>
          </a:prstGeom>
          <a:noFill/>
        </p:spPr>
        <p:txBody>
          <a:bodyPr wrap="square" lIns="18288" rIns="18288" tIns="18288" bIns="18288">
            <a:spAutoFit/>
          </a:bodyPr>
          <a:lstStyle/>
          <a:p>
            <a:pPr>
              <a:spcAft>
                <a:spcPts val="500"/>
              </a:spcAft>
              <a:defRPr sz="800" b="0">
                <a:solidFill>
                  <a:srgbClr val="56606B"/>
                </a:solidFill>
                <a:latin typeface="Aptos"/>
              </a:defRPr>
            </a:pPr>
            <a:r>
              <a:t>AMAZON INDIA WEB CHECKOUT  /  INDEPENDENT EDUCATIONAL STUDY</a:t>
            </a:r>
          </a:p>
        </p:txBody>
      </p:sp>
      <p:sp>
        <p:nvSpPr>
          <p:cNvPr id="6" name="TextBox 5"/>
          <p:cNvSpPr txBox="1"/>
          <p:nvPr/>
        </p:nvSpPr>
        <p:spPr>
          <a:xfrm>
            <a:off x="10652760" y="6547104"/>
            <a:ext cx="868680" cy="182880"/>
          </a:xfrm>
          <a:prstGeom prst="rect">
            <a:avLst/>
          </a:prstGeom>
          <a:noFill/>
        </p:spPr>
        <p:txBody>
          <a:bodyPr wrap="square" lIns="18288" rIns="18288" tIns="18288" bIns="18288">
            <a:spAutoFit/>
          </a:bodyPr>
          <a:lstStyle/>
          <a:p>
            <a:pPr algn="r">
              <a:spcAft>
                <a:spcPts val="500"/>
              </a:spcAft>
              <a:defRPr sz="800" b="0">
                <a:solidFill>
                  <a:srgbClr val="56606B"/>
                </a:solidFill>
                <a:latin typeface="Aptos"/>
              </a:defRPr>
            </a:pPr>
            <a:r>
              <a:t>07 / 07</a:t>
            </a:r>
          </a:p>
        </p:txBody>
      </p:sp>
      <p:sp>
        <p:nvSpPr>
          <p:cNvPr id="7" name="TextBox 6"/>
          <p:cNvSpPr txBox="1"/>
          <p:nvPr/>
        </p:nvSpPr>
        <p:spPr>
          <a:xfrm>
            <a:off x="777240" y="1216152"/>
            <a:ext cx="1828800" cy="347472"/>
          </a:xfrm>
          <a:prstGeom prst="rect">
            <a:avLst/>
          </a:prstGeom>
          <a:noFill/>
        </p:spPr>
        <p:txBody>
          <a:bodyPr wrap="square" lIns="18288" rIns="18288" tIns="18288" bIns="18288">
            <a:spAutoFit/>
          </a:bodyPr>
          <a:lstStyle/>
          <a:p>
            <a:pPr>
              <a:spcAft>
                <a:spcPts val="500"/>
              </a:spcAft>
              <a:defRPr sz="1700" b="1">
                <a:solidFill>
                  <a:srgbClr val="E37023"/>
                </a:solidFill>
                <a:latin typeface="Aptos"/>
              </a:defRPr>
            </a:pPr>
            <a:r>
              <a:t>Priority</a:t>
            </a:r>
          </a:p>
        </p:txBody>
      </p:sp>
      <p:sp>
        <p:nvSpPr>
          <p:cNvPr id="8" name="TextBox 7"/>
          <p:cNvSpPr txBox="1"/>
          <p:nvPr/>
        </p:nvSpPr>
        <p:spPr>
          <a:xfrm>
            <a:off x="777240" y="1691640"/>
            <a:ext cx="4892040" cy="1920240"/>
          </a:xfrm>
          <a:prstGeom prst="rect">
            <a:avLst/>
          </a:prstGeom>
          <a:noFill/>
        </p:spPr>
        <p:txBody>
          <a:bodyPr wrap="square" lIns="18288" rIns="18288" tIns="18288" bIns="18288">
            <a:spAutoFit/>
          </a:bodyPr>
          <a:lstStyle/>
          <a:p>
            <a:pPr>
              <a:spcAft>
                <a:spcPts val="500"/>
              </a:spcAft>
              <a:defRPr sz="2000" b="0">
                <a:solidFill>
                  <a:srgbClr val="1B222B"/>
                </a:solidFill>
                <a:latin typeface="Aptos"/>
              </a:defRPr>
            </a:pPr>
            <a:r>
              <a:t>P1  Payment recovery + price clarity</a:t>
            </a:r>
          </a:p>
          <a:p>
            <a:pPr>
              <a:spcAft>
                <a:spcPts val="500"/>
              </a:spcAft>
              <a:defRPr sz="2000" b="0">
                <a:solidFill>
                  <a:srgbClr val="1B222B"/>
                </a:solidFill>
                <a:latin typeface="Aptos"/>
              </a:defRPr>
            </a:pPr>
            <a:r>
              <a:t>P2  Editing, choices and terminology</a:t>
            </a:r>
          </a:p>
          <a:p>
            <a:pPr>
              <a:spcAft>
                <a:spcPts val="500"/>
              </a:spcAft>
              <a:defRPr sz="2000" b="0">
                <a:solidFill>
                  <a:srgbClr val="1B222B"/>
                </a:solidFill>
                <a:latin typeface="Aptos"/>
              </a:defRPr>
            </a:pPr>
            <a:r>
              <a:t>P3  Primary control polish</a:t>
            </a:r>
          </a:p>
        </p:txBody>
      </p:sp>
      <p:sp>
        <p:nvSpPr>
          <p:cNvPr id="9" name="TextBox 8"/>
          <p:cNvSpPr txBox="1"/>
          <p:nvPr/>
        </p:nvSpPr>
        <p:spPr>
          <a:xfrm>
            <a:off x="6126480" y="1216152"/>
            <a:ext cx="5074920" cy="365760"/>
          </a:xfrm>
          <a:prstGeom prst="rect">
            <a:avLst/>
          </a:prstGeom>
          <a:noFill/>
        </p:spPr>
        <p:txBody>
          <a:bodyPr wrap="square" lIns="18288" rIns="18288" tIns="18288" bIns="18288">
            <a:spAutoFit/>
          </a:bodyPr>
          <a:lstStyle/>
          <a:p>
            <a:pPr>
              <a:spcAft>
                <a:spcPts val="500"/>
              </a:spcAft>
              <a:defRPr sz="1900" b="1">
                <a:solidFill>
                  <a:srgbClr val="E37023"/>
                </a:solidFill>
                <a:latin typeface="Aptos"/>
              </a:defRPr>
            </a:pPr>
            <a:r>
              <a:t>Five-participant validation plan</a:t>
            </a:r>
          </a:p>
        </p:txBody>
      </p:sp>
      <p:sp>
        <p:nvSpPr>
          <p:cNvPr id="10" name="TextBox 9"/>
          <p:cNvSpPr txBox="1"/>
          <p:nvPr/>
        </p:nvSpPr>
        <p:spPr>
          <a:xfrm>
            <a:off x="6126480" y="1664208"/>
            <a:ext cx="5074920" cy="1920240"/>
          </a:xfrm>
          <a:prstGeom prst="rect">
            <a:avLst/>
          </a:prstGeom>
          <a:noFill/>
        </p:spPr>
        <p:txBody>
          <a:bodyPr wrap="square" lIns="18288" rIns="18288" tIns="18288" bIns="18288">
            <a:spAutoFit/>
          </a:bodyPr>
          <a:lstStyle/>
          <a:p>
            <a:pPr>
              <a:spcAft>
                <a:spcPts val="500"/>
              </a:spcAft>
              <a:defRPr sz="1900" b="0">
                <a:solidFill>
                  <a:srgbClr val="1B222B"/>
                </a:solidFill>
                <a:latin typeface="Aptos"/>
              </a:defRPr>
            </a:pPr>
            <a:r>
              <a:t>Recruit India-based desktop shoppers with varied checkout familiarity. Ask them to change an address, inspect the payable total, select payment and recover from a simulated failure.</a:t>
            </a:r>
          </a:p>
        </p:txBody>
      </p:sp>
      <p:sp>
        <p:nvSpPr>
          <p:cNvPr id="11" name="Rounded Rectangle 10"/>
          <p:cNvSpPr/>
          <p:nvPr/>
        </p:nvSpPr>
        <p:spPr>
          <a:xfrm>
            <a:off x="768096" y="3904487"/>
            <a:ext cx="10515600" cy="1572768"/>
          </a:xfrm>
          <a:prstGeom prst="roundRect">
            <a:avLst/>
          </a:prstGeom>
          <a:solidFill>
            <a:srgbClr val="FFFFFF"/>
          </a:solidFill>
          <a:ln>
            <a:solidFill>
              <a:srgbClr val="DAD7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4105656"/>
            <a:ext cx="3017520" cy="384048"/>
          </a:xfrm>
          <a:prstGeom prst="rect">
            <a:avLst/>
          </a:prstGeom>
          <a:noFill/>
        </p:spPr>
        <p:txBody>
          <a:bodyPr wrap="square" lIns="18288" rIns="18288" tIns="18288" bIns="18288">
            <a:spAutoFit/>
          </a:bodyPr>
          <a:lstStyle/>
          <a:p>
            <a:pPr>
              <a:spcAft>
                <a:spcPts val="500"/>
              </a:spcAft>
              <a:defRPr sz="2100" b="1">
                <a:solidFill>
                  <a:srgbClr val="1B222B"/>
                </a:solidFill>
                <a:latin typeface="Aptos"/>
              </a:defRPr>
            </a:pPr>
            <a:r>
              <a:t>Success measures</a:t>
            </a:r>
          </a:p>
        </p:txBody>
      </p:sp>
      <p:sp>
        <p:nvSpPr>
          <p:cNvPr id="13" name="TextBox 12"/>
          <p:cNvSpPr txBox="1"/>
          <p:nvPr/>
        </p:nvSpPr>
        <p:spPr>
          <a:xfrm>
            <a:off x="1024128" y="4590288"/>
            <a:ext cx="9738360" cy="713232"/>
          </a:xfrm>
          <a:prstGeom prst="rect">
            <a:avLst/>
          </a:prstGeom>
          <a:noFill/>
        </p:spPr>
        <p:txBody>
          <a:bodyPr wrap="square" lIns="18288" rIns="18288" tIns="18288" bIns="18288">
            <a:spAutoFit/>
          </a:bodyPr>
          <a:lstStyle/>
          <a:p>
            <a:pPr>
              <a:spcAft>
                <a:spcPts val="500"/>
              </a:spcAft>
              <a:defRPr sz="1800" b="0">
                <a:solidFill>
                  <a:srgbClr val="1B222B"/>
                </a:solidFill>
                <a:latin typeface="Aptos"/>
              </a:defRPr>
            </a:pPr>
            <a:r>
              <a:t>Completion / abandonment · time and clicks · failure recovery · cost clarity · unaided task success</a:t>
            </a:r>
          </a:p>
        </p:txBody>
      </p:sp>
      <p:sp>
        <p:nvSpPr>
          <p:cNvPr id="14" name="TextBox 13"/>
          <p:cNvSpPr txBox="1"/>
          <p:nvPr/>
        </p:nvSpPr>
        <p:spPr>
          <a:xfrm>
            <a:off x="777240" y="5733288"/>
            <a:ext cx="10789920" cy="557784"/>
          </a:xfrm>
          <a:prstGeom prst="rect">
            <a:avLst/>
          </a:prstGeom>
          <a:noFill/>
        </p:spPr>
        <p:txBody>
          <a:bodyPr wrap="square" lIns="18288" rIns="18288" tIns="18288" bIns="18288">
            <a:spAutoFit/>
          </a:bodyPr>
          <a:lstStyle/>
          <a:p>
            <a:pPr>
              <a:spcAft>
                <a:spcPts val="500"/>
              </a:spcAft>
              <a:defRPr sz="1400" b="0">
                <a:solidFill>
                  <a:srgbClr val="56606B"/>
                </a:solidFill>
                <a:latin typeface="Aptos"/>
              </a:defRPr>
            </a:pPr>
            <a:r>
              <a:t>Baseline not measured. No usability sessions have been conducted. Prototype: kunalmahurkar.is-a.dev/amazon-checkout-prototype/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