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observed one Amazon India desktop checkout, placed a cash-on-delivery order and cancelled it. This deck separates visible facts from usability hypotheses and shows the redesign response.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genuine public crops from one desktop browser journey. They establish the displayed UI, not shopper confusion or conversion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item 207 rupees, cash-on-delivery fee 7 rupees, total 214 rupees. Visibility of system status is the relevant heuristic. The fee is visible, so missed comprehension is a hypothesis, not a proven violation. Test by asking for the total and fee unaided.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shows cards, net banking, UPI scan and pay, and cash on delivery. The possible comprehension cost is a hypothesis. Nielsen's match with the real world and Hick's Law guide simpler labels and fee disclosure. No selection time was measured.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cart crop shows item controls and promotion content. This can raise choice and pointer concerns, but a screenshot does not measure hesitation or missed clicks. Nielsen's minimalist design and flexibility heuristics, plus Hick's and Fitts's laws, motivate grouping and more consistent click areas.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 links were observed during review, so I do not claim Amazon lacks editing. The public review crop retains cost information rather than the address rows. The redesign presents direct Edit actions and keeps selections. Nielsen's user control and freedom, Jakob's Law and Fitts's Law inform this concept.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observed order succeeded and was later cancelled. There is no real payment-failure capture. Nielsen's error recovery heuristic identifies a high-risk scenario to test, not an established Amazon defect. The concept states that no payment was taken and offers retry or method change.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rows summarize which Nielsen heuristic is relevant. None is presented as a verified user harm. Five observations come from the real journey; payment failure is a proposed scenario. Severity is expert judgement and must be checked through user testing.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proposed screens show the design response. Payment exposes method-specific cost, review keeps an itemized total and direct edits, and failure communicates transaction status with recovery options. They are editable concepts; the React prototype demonstrates behavior.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Priorities: cost comprehension and risk-led recovery first, then payment choice and editing, then target polish. Recruit five India-based desktop shoppers. Ask for the total and fee, a late edit, and recovery from a simulated failure. Measure unaided task completion, time, errors, missed clicks and confidence. No outcomes are claimed yet. Sources: original screenshots; Nielsen Norman Group heuristics; Interaction Design Foundation summaries of Hick's and Fitts's laws.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8.jp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jp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 Id="rId5"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01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What the checkout shows, and what I changed</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A single desktop journey, six heuristic questions, and nine proposed screens</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01 / 10</a:t>
            </a:r>
          </a:p>
        </p:txBody>
      </p:sp>
      <p:sp>
        <p:nvSpPr>
          <p:cNvPr id="7" name="TextBox 6"/>
          <p:cNvSpPr txBox="1"/>
          <p:nvPr/>
        </p:nvSpPr>
        <p:spPr>
          <a:xfrm>
            <a:off x="685800" y="1901952"/>
            <a:ext cx="3383280" cy="292608"/>
          </a:xfrm>
          <a:prstGeom prst="rect">
            <a:avLst/>
          </a:prstGeom>
          <a:noFill/>
        </p:spPr>
        <p:txBody>
          <a:bodyPr wrap="square" lIns="18288" rIns="18288" tIns="9144" bIns="9144">
            <a:spAutoFit/>
          </a:bodyPr>
          <a:lstStyle/>
          <a:p>
            <a:pPr>
              <a:spcAft>
                <a:spcPts val="700"/>
              </a:spcAft>
              <a:defRPr sz="1300" b="1">
                <a:solidFill>
                  <a:srgbClr val="007185"/>
                </a:solidFill>
                <a:latin typeface="Arial"/>
              </a:defRPr>
            </a:pPr>
            <a:r>
              <a:t>REAL INTERFACE</a:t>
            </a:r>
          </a:p>
        </p:txBody>
      </p:sp>
      <p:sp>
        <p:nvSpPr>
          <p:cNvPr id="8" name="TextBox 7"/>
          <p:cNvSpPr txBox="1"/>
          <p:nvPr/>
        </p:nvSpPr>
        <p:spPr>
          <a:xfrm>
            <a:off x="685800" y="2304288"/>
            <a:ext cx="3886200" cy="1024128"/>
          </a:xfrm>
          <a:prstGeom prst="rect">
            <a:avLst/>
          </a:prstGeom>
          <a:noFill/>
        </p:spPr>
        <p:txBody>
          <a:bodyPr wrap="square" lIns="18288" rIns="18288" tIns="9144" bIns="9144">
            <a:spAutoFit/>
          </a:bodyPr>
          <a:lstStyle/>
          <a:p>
            <a:pPr>
              <a:spcAft>
                <a:spcPts val="700"/>
              </a:spcAft>
              <a:defRPr sz="2300" b="1">
                <a:solidFill>
                  <a:srgbClr val="131921"/>
                </a:solidFill>
                <a:latin typeface="Arial"/>
              </a:defRPr>
            </a:pPr>
            <a:r>
              <a:t>Seven public screenshot crops from one checkout and cancellation</a:t>
            </a:r>
          </a:p>
        </p:txBody>
      </p:sp>
      <p:sp>
        <p:nvSpPr>
          <p:cNvPr id="9" name="TextBox 8"/>
          <p:cNvSpPr txBox="1"/>
          <p:nvPr/>
        </p:nvSpPr>
        <p:spPr>
          <a:xfrm>
            <a:off x="685800" y="3886200"/>
            <a:ext cx="3383280" cy="292608"/>
          </a:xfrm>
          <a:prstGeom prst="rect">
            <a:avLst/>
          </a:prstGeom>
          <a:noFill/>
        </p:spPr>
        <p:txBody>
          <a:bodyPr wrap="square" lIns="18288" rIns="18288" tIns="9144" bIns="9144">
            <a:spAutoFit/>
          </a:bodyPr>
          <a:lstStyle/>
          <a:p>
            <a:pPr>
              <a:spcAft>
                <a:spcPts val="700"/>
              </a:spcAft>
              <a:defRPr sz="1300" b="1">
                <a:solidFill>
                  <a:srgbClr val="C45500"/>
                </a:solidFill>
                <a:latin typeface="Arial"/>
              </a:defRPr>
            </a:pPr>
            <a:r>
              <a:t>REDESIGN</a:t>
            </a:r>
          </a:p>
        </p:txBody>
      </p:sp>
      <p:sp>
        <p:nvSpPr>
          <p:cNvPr id="10" name="TextBox 9"/>
          <p:cNvSpPr txBox="1"/>
          <p:nvPr/>
        </p:nvSpPr>
        <p:spPr>
          <a:xfrm>
            <a:off x="685800" y="4279392"/>
            <a:ext cx="3886200" cy="1024128"/>
          </a:xfrm>
          <a:prstGeom prst="rect">
            <a:avLst/>
          </a:prstGeom>
          <a:noFill/>
        </p:spPr>
        <p:txBody>
          <a:bodyPr wrap="square" lIns="18288" rIns="18288" tIns="9144" bIns="9144">
            <a:spAutoFit/>
          </a:bodyPr>
          <a:lstStyle/>
          <a:p>
            <a:pPr>
              <a:spcAft>
                <a:spcPts val="700"/>
              </a:spcAft>
              <a:defRPr sz="2300" b="1">
                <a:solidFill>
                  <a:srgbClr val="131921"/>
                </a:solidFill>
                <a:latin typeface="Arial"/>
              </a:defRPr>
            </a:pPr>
            <a:r>
              <a:t>Editable screen designs and a working checkout simulation</a:t>
            </a:r>
          </a:p>
        </p:txBody>
      </p:sp>
      <p:pic>
        <p:nvPicPr>
          <p:cNvPr id="11" name="Picture 10" descr="screen-05.png"/>
          <p:cNvPicPr>
            <a:picLocks noChangeAspect="1"/>
          </p:cNvPicPr>
          <p:nvPr/>
        </p:nvPicPr>
        <p:blipFill>
          <a:blip r:embed="rId3"/>
          <a:stretch>
            <a:fillRect/>
          </a:stretch>
        </p:blipFill>
        <p:spPr>
          <a:xfrm>
            <a:off x="5074920" y="1822227"/>
            <a:ext cx="6281928" cy="3533584"/>
          </a:xfrm>
          <a:prstGeom prst="rect">
            <a:avLst/>
          </a:prstGeom>
        </p:spPr>
      </p:pic>
      <p:sp>
        <p:nvSpPr>
          <p:cNvPr id="12" name="TextBox 11"/>
          <p:cNvSpPr txBox="1"/>
          <p:nvPr/>
        </p:nvSpPr>
        <p:spPr>
          <a:xfrm>
            <a:off x="5120640" y="5513832"/>
            <a:ext cx="6144768" cy="384048"/>
          </a:xfrm>
          <a:prstGeom prst="rect">
            <a:avLst/>
          </a:prstGeom>
          <a:noFill/>
        </p:spPr>
        <p:txBody>
          <a:bodyPr wrap="square" lIns="18288" rIns="18288" tIns="9144" bIns="9144">
            <a:spAutoFit/>
          </a:bodyPr>
          <a:lstStyle/>
          <a:p>
            <a:pPr>
              <a:spcAft>
                <a:spcPts val="700"/>
              </a:spcAft>
              <a:defRPr sz="1200" b="0">
                <a:solidFill>
                  <a:srgbClr val="4C575B"/>
                </a:solidFill>
                <a:latin typeface="Arial"/>
              </a:defRPr>
            </a:pPr>
            <a:r>
              <a:t>Proposed review screen. This is a concept, not an Amazon screen.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02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Evidence: one observed journey</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Seven original crops. One cash-on-delivery order placed and cancelled immediately.</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02 / 10</a:t>
            </a:r>
          </a:p>
        </p:txBody>
      </p:sp>
      <p:pic>
        <p:nvPicPr>
          <p:cNvPr id="7" name="Picture 6" descr="address-stage-header.png"/>
          <p:cNvPicPr>
            <a:picLocks noChangeAspect="1"/>
          </p:cNvPicPr>
          <p:nvPr/>
        </p:nvPicPr>
        <p:blipFill>
          <a:blip r:embed="rId3"/>
          <a:stretch>
            <a:fillRect/>
          </a:stretch>
        </p:blipFill>
        <p:spPr>
          <a:xfrm>
            <a:off x="640080" y="2337567"/>
            <a:ext cx="3438144" cy="399784"/>
          </a:xfrm>
          <a:prstGeom prst="rect">
            <a:avLst/>
          </a:prstGeom>
        </p:spPr>
      </p:pic>
      <p:pic>
        <p:nvPicPr>
          <p:cNvPr id="8" name="Picture 7" descr="delivery-options.png"/>
          <p:cNvPicPr>
            <a:picLocks noChangeAspect="1"/>
          </p:cNvPicPr>
          <p:nvPr/>
        </p:nvPicPr>
        <p:blipFill>
          <a:blip r:embed="rId4"/>
          <a:stretch>
            <a:fillRect/>
          </a:stretch>
        </p:blipFill>
        <p:spPr>
          <a:xfrm>
            <a:off x="4370832" y="1996518"/>
            <a:ext cx="3438144" cy="1932275"/>
          </a:xfrm>
          <a:prstGeom prst="rect">
            <a:avLst/>
          </a:prstGeom>
        </p:spPr>
      </p:pic>
      <p:pic>
        <p:nvPicPr>
          <p:cNvPr id="9" name="Picture 8" descr="cancellation-success.png"/>
          <p:cNvPicPr>
            <a:picLocks noChangeAspect="1"/>
          </p:cNvPicPr>
          <p:nvPr/>
        </p:nvPicPr>
        <p:blipFill>
          <a:blip r:embed="rId5"/>
          <a:stretch>
            <a:fillRect/>
          </a:stretch>
        </p:blipFill>
        <p:spPr>
          <a:xfrm>
            <a:off x="7982712" y="2051436"/>
            <a:ext cx="3493008" cy="1822438"/>
          </a:xfrm>
          <a:prstGeom prst="rect">
            <a:avLst/>
          </a:prstGeom>
        </p:spPr>
      </p:pic>
      <p:sp>
        <p:nvSpPr>
          <p:cNvPr id="10" name="TextBox 9"/>
          <p:cNvSpPr txBox="1"/>
          <p:nvPr/>
        </p:nvSpPr>
        <p:spPr>
          <a:xfrm>
            <a:off x="704088" y="4270248"/>
            <a:ext cx="3200400" cy="256032"/>
          </a:xfrm>
          <a:prstGeom prst="rect">
            <a:avLst/>
          </a:prstGeom>
          <a:noFill/>
        </p:spPr>
        <p:txBody>
          <a:bodyPr wrap="square" lIns="18288" rIns="18288" tIns="9144" bIns="9144">
            <a:spAutoFit/>
          </a:bodyPr>
          <a:lstStyle/>
          <a:p>
            <a:pPr>
              <a:spcAft>
                <a:spcPts val="700"/>
              </a:spcAft>
              <a:defRPr sz="1100" b="1">
                <a:solidFill>
                  <a:srgbClr val="007185"/>
                </a:solidFill>
                <a:latin typeface="Arial"/>
              </a:defRPr>
            </a:pPr>
            <a:r>
              <a:t>EV-02 · ADDRESS</a:t>
            </a:r>
          </a:p>
        </p:txBody>
      </p:sp>
      <p:sp>
        <p:nvSpPr>
          <p:cNvPr id="11" name="TextBox 10"/>
          <p:cNvSpPr txBox="1"/>
          <p:nvPr/>
        </p:nvSpPr>
        <p:spPr>
          <a:xfrm>
            <a:off x="4434840" y="4270248"/>
            <a:ext cx="3108960" cy="256032"/>
          </a:xfrm>
          <a:prstGeom prst="rect">
            <a:avLst/>
          </a:prstGeom>
          <a:noFill/>
        </p:spPr>
        <p:txBody>
          <a:bodyPr wrap="square" lIns="18288" rIns="18288" tIns="9144" bIns="9144">
            <a:spAutoFit/>
          </a:bodyPr>
          <a:lstStyle/>
          <a:p>
            <a:pPr>
              <a:spcAft>
                <a:spcPts val="700"/>
              </a:spcAft>
              <a:defRPr sz="1100" b="1">
                <a:solidFill>
                  <a:srgbClr val="007185"/>
                </a:solidFill>
                <a:latin typeface="Arial"/>
              </a:defRPr>
            </a:pPr>
            <a:r>
              <a:t>EV-04 · DELIVERY</a:t>
            </a:r>
          </a:p>
        </p:txBody>
      </p:sp>
      <p:sp>
        <p:nvSpPr>
          <p:cNvPr id="12" name="TextBox 11"/>
          <p:cNvSpPr txBox="1"/>
          <p:nvPr/>
        </p:nvSpPr>
        <p:spPr>
          <a:xfrm>
            <a:off x="8046720" y="4270248"/>
            <a:ext cx="3108960" cy="256032"/>
          </a:xfrm>
          <a:prstGeom prst="rect">
            <a:avLst/>
          </a:prstGeom>
          <a:noFill/>
        </p:spPr>
        <p:txBody>
          <a:bodyPr wrap="square" lIns="18288" rIns="18288" tIns="9144" bIns="9144">
            <a:spAutoFit/>
          </a:bodyPr>
          <a:lstStyle/>
          <a:p>
            <a:pPr>
              <a:spcAft>
                <a:spcPts val="700"/>
              </a:spcAft>
              <a:defRPr sz="1100" b="1">
                <a:solidFill>
                  <a:srgbClr val="007185"/>
                </a:solidFill>
                <a:latin typeface="Arial"/>
              </a:defRPr>
            </a:pPr>
            <a:r>
              <a:t>EV-07 · CANCELLATION</a:t>
            </a:r>
          </a:p>
        </p:txBody>
      </p:sp>
      <p:sp>
        <p:nvSpPr>
          <p:cNvPr id="13" name="TextBox 12"/>
          <p:cNvSpPr txBox="1"/>
          <p:nvPr/>
        </p:nvSpPr>
        <p:spPr>
          <a:xfrm>
            <a:off x="704088" y="4636008"/>
            <a:ext cx="3154680" cy="841248"/>
          </a:xfrm>
          <a:prstGeom prst="rect">
            <a:avLst/>
          </a:prstGeom>
          <a:noFill/>
        </p:spPr>
        <p:txBody>
          <a:bodyPr wrap="square" lIns="18288" rIns="18288" tIns="9144" bIns="9144">
            <a:spAutoFit/>
          </a:bodyPr>
          <a:lstStyle/>
          <a:p>
            <a:pPr>
              <a:spcAft>
                <a:spcPts val="700"/>
              </a:spcAft>
              <a:defRPr sz="1500" b="0">
                <a:solidFill>
                  <a:srgbClr val="0F1111"/>
                </a:solidFill>
                <a:latin typeface="Arial"/>
              </a:defRPr>
            </a:pPr>
            <a:r>
              <a:t>Address choices are indicated; personal rows are withheld.</a:t>
            </a:r>
          </a:p>
        </p:txBody>
      </p:sp>
      <p:sp>
        <p:nvSpPr>
          <p:cNvPr id="14" name="TextBox 13"/>
          <p:cNvSpPr txBox="1"/>
          <p:nvPr/>
        </p:nvSpPr>
        <p:spPr>
          <a:xfrm>
            <a:off x="4434840" y="4636008"/>
            <a:ext cx="3108960" cy="841248"/>
          </a:xfrm>
          <a:prstGeom prst="rect">
            <a:avLst/>
          </a:prstGeom>
          <a:noFill/>
        </p:spPr>
        <p:txBody>
          <a:bodyPr wrap="square" lIns="18288" rIns="18288" tIns="9144" bIns="9144">
            <a:spAutoFit/>
          </a:bodyPr>
          <a:lstStyle/>
          <a:p>
            <a:pPr>
              <a:spcAft>
                <a:spcPts val="700"/>
              </a:spcAft>
              <a:defRPr sz="1500" b="0">
                <a:solidFill>
                  <a:srgbClr val="0F1111"/>
                </a:solidFill>
                <a:latin typeface="Arial"/>
              </a:defRPr>
            </a:pPr>
            <a:r>
              <a:t>Two delivery choices appear, both marked free.</a:t>
            </a:r>
          </a:p>
        </p:txBody>
      </p:sp>
      <p:sp>
        <p:nvSpPr>
          <p:cNvPr id="15" name="TextBox 14"/>
          <p:cNvSpPr txBox="1"/>
          <p:nvPr/>
        </p:nvSpPr>
        <p:spPr>
          <a:xfrm>
            <a:off x="8046720" y="4636008"/>
            <a:ext cx="3108960" cy="841248"/>
          </a:xfrm>
          <a:prstGeom prst="rect">
            <a:avLst/>
          </a:prstGeom>
          <a:noFill/>
        </p:spPr>
        <p:txBody>
          <a:bodyPr wrap="square" lIns="18288" rIns="18288" tIns="9144" bIns="9144">
            <a:spAutoFit/>
          </a:bodyPr>
          <a:lstStyle/>
          <a:p>
            <a:pPr>
              <a:spcAft>
                <a:spcPts val="700"/>
              </a:spcAft>
              <a:defRPr sz="1500" b="0">
                <a:solidFill>
                  <a:srgbClr val="0F1111"/>
                </a:solidFill>
                <a:latin typeface="Arial"/>
              </a:defRPr>
            </a:pPr>
            <a:r>
              <a:t>Cancellation completed after the observed order.</a:t>
            </a:r>
          </a:p>
        </p:txBody>
      </p:sp>
      <p:sp>
        <p:nvSpPr>
          <p:cNvPr id="16" name="TextBox 15"/>
          <p:cNvSpPr txBox="1"/>
          <p:nvPr/>
        </p:nvSpPr>
        <p:spPr>
          <a:xfrm>
            <a:off x="704088" y="5824728"/>
            <a:ext cx="10744200" cy="393192"/>
          </a:xfrm>
          <a:prstGeom prst="rect">
            <a:avLst/>
          </a:prstGeom>
          <a:noFill/>
        </p:spPr>
        <p:txBody>
          <a:bodyPr wrap="square" lIns="18288" rIns="18288" tIns="9144" bIns="9144">
            <a:spAutoFit/>
          </a:bodyPr>
          <a:lstStyle/>
          <a:p>
            <a:pPr>
              <a:spcAft>
                <a:spcPts val="700"/>
              </a:spcAft>
              <a:defRPr sz="1500" b="1">
                <a:solidFill>
                  <a:srgbClr val="C45500"/>
                </a:solidFill>
                <a:latin typeface="Arial"/>
              </a:defRPr>
            </a:pPr>
            <a:r>
              <a:t>Evidence boundary: no participants, analytics baseline, or real payment failure were observed.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03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01  Final cost may be easy to miss</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Nielsen #1: visibility of system status · Current fact versus design response</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03 / 10</a:t>
            </a:r>
          </a:p>
        </p:txBody>
      </p:sp>
      <p:sp>
        <p:nvSpPr>
          <p:cNvPr id="7" name="TextBox 6"/>
          <p:cNvSpPr txBox="1"/>
          <p:nvPr/>
        </p:nvSpPr>
        <p:spPr>
          <a:xfrm>
            <a:off x="685800" y="1847088"/>
            <a:ext cx="5010912" cy="256032"/>
          </a:xfrm>
          <a:prstGeom prst="rect">
            <a:avLst/>
          </a:prstGeom>
          <a:noFill/>
        </p:spPr>
        <p:txBody>
          <a:bodyPr wrap="square" lIns="18288" rIns="18288" tIns="9144" bIns="9144">
            <a:spAutoFit/>
          </a:bodyPr>
          <a:lstStyle/>
          <a:p>
            <a:pPr>
              <a:spcAft>
                <a:spcPts val="700"/>
              </a:spcAft>
              <a:defRPr sz="1100" b="1">
                <a:solidFill>
                  <a:srgbClr val="007185"/>
                </a:solidFill>
                <a:latin typeface="Arial"/>
              </a:defRPr>
            </a:pPr>
            <a:r>
              <a:t>OBSERVED ON AMAZON · EV-05</a:t>
            </a:r>
          </a:p>
        </p:txBody>
      </p:sp>
      <p:pic>
        <p:nvPicPr>
          <p:cNvPr id="8" name="Picture 7" descr="review-total.png"/>
          <p:cNvPicPr>
            <a:picLocks noChangeAspect="1"/>
          </p:cNvPicPr>
          <p:nvPr/>
        </p:nvPicPr>
        <p:blipFill>
          <a:blip r:embed="rId3"/>
          <a:stretch>
            <a:fillRect/>
          </a:stretch>
        </p:blipFill>
        <p:spPr>
          <a:xfrm>
            <a:off x="658368" y="2538844"/>
            <a:ext cx="5193792" cy="1323111"/>
          </a:xfrm>
          <a:prstGeom prst="rect">
            <a:avLst/>
          </a:prstGeom>
        </p:spPr>
      </p:pic>
      <p:sp>
        <p:nvSpPr>
          <p:cNvPr id="9" name="TextBox 8"/>
          <p:cNvSpPr txBox="1"/>
          <p:nvPr/>
        </p:nvSpPr>
        <p:spPr>
          <a:xfrm>
            <a:off x="704088" y="4416552"/>
            <a:ext cx="4983480" cy="329184"/>
          </a:xfrm>
          <a:prstGeom prst="rect">
            <a:avLst/>
          </a:prstGeom>
          <a:noFill/>
        </p:spPr>
        <p:txBody>
          <a:bodyPr wrap="square" lIns="18288" rIns="18288" tIns="9144" bIns="9144">
            <a:spAutoFit/>
          </a:bodyPr>
          <a:lstStyle/>
          <a:p>
            <a:pPr>
              <a:spcAft>
                <a:spcPts val="700"/>
              </a:spcAft>
              <a:defRPr sz="1700" b="1">
                <a:solidFill>
                  <a:srgbClr val="131921"/>
                </a:solidFill>
                <a:latin typeface="Arial"/>
              </a:defRPr>
            </a:pPr>
            <a:r>
              <a:t>₹207 item + ₹7 COD fee = ₹214 total</a:t>
            </a:r>
          </a:p>
        </p:txBody>
      </p:sp>
      <p:sp>
        <p:nvSpPr>
          <p:cNvPr id="10" name="TextBox 9"/>
          <p:cNvSpPr txBox="1"/>
          <p:nvPr/>
        </p:nvSpPr>
        <p:spPr>
          <a:xfrm>
            <a:off x="704088" y="4809744"/>
            <a:ext cx="4983480" cy="914400"/>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The final amount is visible at review. Whether shoppers notice the fee before commitment is unmeasured.</a:t>
            </a:r>
          </a:p>
        </p:txBody>
      </p:sp>
      <p:sp>
        <p:nvSpPr>
          <p:cNvPr id="11" name="TextBox 10"/>
          <p:cNvSpPr txBox="1"/>
          <p:nvPr/>
        </p:nvSpPr>
        <p:spPr>
          <a:xfrm>
            <a:off x="6281928" y="1847088"/>
            <a:ext cx="5074920" cy="256032"/>
          </a:xfrm>
          <a:prstGeom prst="rect">
            <a:avLst/>
          </a:prstGeom>
          <a:noFill/>
        </p:spPr>
        <p:txBody>
          <a:bodyPr wrap="square" lIns="18288" rIns="18288" tIns="9144" bIns="9144">
            <a:spAutoFit/>
          </a:bodyPr>
          <a:lstStyle/>
          <a:p>
            <a:pPr>
              <a:spcAft>
                <a:spcPts val="700"/>
              </a:spcAft>
              <a:defRPr sz="1100" b="1">
                <a:solidFill>
                  <a:srgbClr val="C45500"/>
                </a:solidFill>
                <a:latin typeface="Arial"/>
              </a:defRPr>
            </a:pPr>
            <a:r>
              <a:t>PROPOSED REVIEW</a:t>
            </a:r>
          </a:p>
        </p:txBody>
      </p:sp>
      <p:pic>
        <p:nvPicPr>
          <p:cNvPr id="12" name="Picture 11" descr="screen-05.png"/>
          <p:cNvPicPr>
            <a:picLocks noChangeAspect="1"/>
          </p:cNvPicPr>
          <p:nvPr/>
        </p:nvPicPr>
        <p:blipFill>
          <a:blip r:embed="rId4"/>
          <a:stretch>
            <a:fillRect/>
          </a:stretch>
        </p:blipFill>
        <p:spPr>
          <a:xfrm>
            <a:off x="6430772" y="2240280"/>
            <a:ext cx="4795520" cy="2697480"/>
          </a:xfrm>
          <a:prstGeom prst="rect">
            <a:avLst/>
          </a:prstGeom>
        </p:spPr>
      </p:pic>
      <p:sp>
        <p:nvSpPr>
          <p:cNvPr id="13" name="TextBox 12"/>
          <p:cNvSpPr txBox="1"/>
          <p:nvPr/>
        </p:nvSpPr>
        <p:spPr>
          <a:xfrm>
            <a:off x="6309360" y="5166360"/>
            <a:ext cx="4974336" cy="667512"/>
          </a:xfrm>
          <a:prstGeom prst="rect">
            <a:avLst/>
          </a:prstGeom>
          <a:noFill/>
        </p:spPr>
        <p:txBody>
          <a:bodyPr wrap="square" lIns="18288" rIns="18288" tIns="9144" bIns="9144">
            <a:spAutoFit/>
          </a:bodyPr>
          <a:lstStyle/>
          <a:p>
            <a:pPr>
              <a:spcAft>
                <a:spcPts val="700"/>
              </a:spcAft>
              <a:defRPr sz="1600" b="0">
                <a:solidFill>
                  <a:srgbClr val="0F1111"/>
                </a:solidFill>
                <a:latin typeface="Arial"/>
              </a:defRPr>
            </a:pPr>
            <a:r>
              <a:t>Itemized summary beside the decision; explicit total payable and Edit actions.</a:t>
            </a:r>
          </a:p>
        </p:txBody>
      </p:sp>
      <p:sp>
        <p:nvSpPr>
          <p:cNvPr id="14" name="TextBox 13"/>
          <p:cNvSpPr txBox="1"/>
          <p:nvPr/>
        </p:nvSpPr>
        <p:spPr>
          <a:xfrm>
            <a:off x="713232" y="6080760"/>
            <a:ext cx="10744200" cy="283464"/>
          </a:xfrm>
          <a:prstGeom prst="rect">
            <a:avLst/>
          </a:prstGeom>
          <a:noFill/>
        </p:spPr>
        <p:txBody>
          <a:bodyPr wrap="square" lIns="18288" rIns="18288" tIns="9144" bIns="9144">
            <a:spAutoFit/>
          </a:bodyPr>
          <a:lstStyle/>
          <a:p>
            <a:pPr>
              <a:spcAft>
                <a:spcPts val="700"/>
              </a:spcAft>
              <a:defRPr sz="1400" b="1">
                <a:solidFill>
                  <a:srgbClr val="007185"/>
                </a:solidFill>
                <a:latin typeface="Arial"/>
              </a:defRPr>
            </a:pPr>
            <a:r>
              <a:t>Test: ask shoppers to state the total and the reason for the extra ₹7 before clicking.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04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02  Payment methods need cost context</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Nielsen #2: match to familiar language · Hick's Law: decision effort</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04 / 10</a:t>
            </a:r>
          </a:p>
        </p:txBody>
      </p:sp>
      <p:sp>
        <p:nvSpPr>
          <p:cNvPr id="7" name="TextBox 6"/>
          <p:cNvSpPr txBox="1"/>
          <p:nvPr/>
        </p:nvSpPr>
        <p:spPr>
          <a:xfrm>
            <a:off x="676656" y="1773936"/>
            <a:ext cx="5047488" cy="256032"/>
          </a:xfrm>
          <a:prstGeom prst="rect">
            <a:avLst/>
          </a:prstGeom>
          <a:noFill/>
        </p:spPr>
        <p:txBody>
          <a:bodyPr wrap="square" lIns="18288" rIns="18288" tIns="9144" bIns="9144">
            <a:spAutoFit/>
          </a:bodyPr>
          <a:lstStyle/>
          <a:p>
            <a:pPr>
              <a:spcAft>
                <a:spcPts val="700"/>
              </a:spcAft>
              <a:defRPr sz="1100" b="1">
                <a:solidFill>
                  <a:srgbClr val="007185"/>
                </a:solidFill>
                <a:latin typeface="Arial"/>
              </a:defRPr>
            </a:pPr>
            <a:r>
              <a:t>OBSERVED ON AMAZON · EV-03</a:t>
            </a:r>
          </a:p>
        </p:txBody>
      </p:sp>
      <p:pic>
        <p:nvPicPr>
          <p:cNvPr id="8" name="Picture 7" descr="payment-methods.png"/>
          <p:cNvPicPr>
            <a:picLocks noChangeAspect="1"/>
          </p:cNvPicPr>
          <p:nvPr/>
        </p:nvPicPr>
        <p:blipFill>
          <a:blip r:embed="rId3"/>
          <a:stretch>
            <a:fillRect/>
          </a:stretch>
        </p:blipFill>
        <p:spPr>
          <a:xfrm>
            <a:off x="1179148" y="2103120"/>
            <a:ext cx="3960207" cy="3200400"/>
          </a:xfrm>
          <a:prstGeom prst="rect">
            <a:avLst/>
          </a:prstGeom>
        </p:spPr>
      </p:pic>
      <p:sp>
        <p:nvSpPr>
          <p:cNvPr id="9" name="TextBox 8"/>
          <p:cNvSpPr txBox="1"/>
          <p:nvPr/>
        </p:nvSpPr>
        <p:spPr>
          <a:xfrm>
            <a:off x="6208776" y="1773936"/>
            <a:ext cx="5148072" cy="256032"/>
          </a:xfrm>
          <a:prstGeom prst="rect">
            <a:avLst/>
          </a:prstGeom>
          <a:noFill/>
        </p:spPr>
        <p:txBody>
          <a:bodyPr wrap="square" lIns="18288" rIns="18288" tIns="9144" bIns="9144">
            <a:spAutoFit/>
          </a:bodyPr>
          <a:lstStyle/>
          <a:p>
            <a:pPr>
              <a:spcAft>
                <a:spcPts val="700"/>
              </a:spcAft>
              <a:defRPr sz="1100" b="1">
                <a:solidFill>
                  <a:srgbClr val="C45500"/>
                </a:solidFill>
                <a:latin typeface="Arial"/>
              </a:defRPr>
            </a:pPr>
            <a:r>
              <a:t>PROPOSED PAYMENT DESIGN</a:t>
            </a:r>
          </a:p>
        </p:txBody>
      </p:sp>
      <p:pic>
        <p:nvPicPr>
          <p:cNvPr id="10" name="Picture 9" descr="screen-04.png"/>
          <p:cNvPicPr>
            <a:picLocks noChangeAspect="1"/>
          </p:cNvPicPr>
          <p:nvPr/>
        </p:nvPicPr>
        <p:blipFill>
          <a:blip r:embed="rId4"/>
          <a:stretch>
            <a:fillRect/>
          </a:stretch>
        </p:blipFill>
        <p:spPr>
          <a:xfrm>
            <a:off x="6126480" y="2163699"/>
            <a:ext cx="5230368" cy="2942082"/>
          </a:xfrm>
          <a:prstGeom prst="rect">
            <a:avLst/>
          </a:prstGeom>
        </p:spPr>
      </p:pic>
      <p:sp>
        <p:nvSpPr>
          <p:cNvPr id="11" name="TextBox 10"/>
          <p:cNvSpPr txBox="1"/>
          <p:nvPr/>
        </p:nvSpPr>
        <p:spPr>
          <a:xfrm>
            <a:off x="685800" y="5468112"/>
            <a:ext cx="5093208" cy="521207"/>
          </a:xfrm>
          <a:prstGeom prst="rect">
            <a:avLst/>
          </a:prstGeom>
          <a:noFill/>
        </p:spPr>
        <p:txBody>
          <a:bodyPr wrap="square" lIns="18288" rIns="18288" tIns="9144" bIns="9144">
            <a:spAutoFit/>
          </a:bodyPr>
          <a:lstStyle/>
          <a:p>
            <a:pPr>
              <a:spcAft>
                <a:spcPts val="700"/>
              </a:spcAft>
              <a:defRPr sz="1500" b="0">
                <a:solidFill>
                  <a:srgbClr val="0F1111"/>
                </a:solidFill>
                <a:latin typeface="Arial"/>
              </a:defRPr>
            </a:pPr>
            <a:r>
              <a:t>Visible fact: multiple payment labels and an insufficient balance message.</a:t>
            </a:r>
          </a:p>
        </p:txBody>
      </p:sp>
      <p:sp>
        <p:nvSpPr>
          <p:cNvPr id="12" name="TextBox 11"/>
          <p:cNvSpPr txBox="1"/>
          <p:nvPr/>
        </p:nvSpPr>
        <p:spPr>
          <a:xfrm>
            <a:off x="6236208" y="5468112"/>
            <a:ext cx="5056632" cy="521207"/>
          </a:xfrm>
          <a:prstGeom prst="rect">
            <a:avLst/>
          </a:prstGeom>
          <a:noFill/>
        </p:spPr>
        <p:txBody>
          <a:bodyPr wrap="square" lIns="18288" rIns="18288" tIns="9144" bIns="9144">
            <a:spAutoFit/>
          </a:bodyPr>
          <a:lstStyle/>
          <a:p>
            <a:pPr>
              <a:spcAft>
                <a:spcPts val="700"/>
              </a:spcAft>
              <a:defRPr sz="1500" b="0">
                <a:solidFill>
                  <a:srgbClr val="0F1111"/>
                </a:solidFill>
                <a:latin typeface="Arial"/>
              </a:defRPr>
            </a:pPr>
            <a:r>
              <a:t>Change: group methods, use plain labels, and show the COD fee at selection.</a:t>
            </a:r>
          </a:p>
        </p:txBody>
      </p:sp>
      <p:sp>
        <p:nvSpPr>
          <p:cNvPr id="13" name="TextBox 12"/>
          <p:cNvSpPr txBox="1"/>
          <p:nvPr/>
        </p:nvSpPr>
        <p:spPr>
          <a:xfrm>
            <a:off x="685800" y="6108192"/>
            <a:ext cx="10680192" cy="283464"/>
          </a:xfrm>
          <a:prstGeom prst="rect">
            <a:avLst/>
          </a:prstGeom>
          <a:noFill/>
        </p:spPr>
        <p:txBody>
          <a:bodyPr wrap="square" lIns="18288" rIns="18288" tIns="9144" bIns="9144">
            <a:spAutoFit/>
          </a:bodyPr>
          <a:lstStyle/>
          <a:p>
            <a:pPr>
              <a:spcAft>
                <a:spcPts val="700"/>
              </a:spcAft>
              <a:defRPr sz="1400" b="1">
                <a:solidFill>
                  <a:srgbClr val="007185"/>
                </a:solidFill>
                <a:latin typeface="Arial"/>
              </a:defRPr>
            </a:pPr>
            <a:r>
              <a:t>Test: compare method comprehension and selection time; a current violation is unproven.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05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03  Choices and controls compete for attention</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Nielsen #8 and #7 · Hick's Law and Fitts's Law</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05 / 10</a:t>
            </a:r>
          </a:p>
        </p:txBody>
      </p:sp>
      <p:sp>
        <p:nvSpPr>
          <p:cNvPr id="7" name="TextBox 6"/>
          <p:cNvSpPr txBox="1"/>
          <p:nvPr/>
        </p:nvSpPr>
        <p:spPr>
          <a:xfrm>
            <a:off x="685800" y="1783080"/>
            <a:ext cx="5047488" cy="256032"/>
          </a:xfrm>
          <a:prstGeom prst="rect">
            <a:avLst/>
          </a:prstGeom>
          <a:noFill/>
        </p:spPr>
        <p:txBody>
          <a:bodyPr wrap="square" lIns="18288" rIns="18288" tIns="9144" bIns="9144">
            <a:spAutoFit/>
          </a:bodyPr>
          <a:lstStyle/>
          <a:p>
            <a:pPr>
              <a:spcAft>
                <a:spcPts val="700"/>
              </a:spcAft>
              <a:defRPr sz="1100" b="1">
                <a:solidFill>
                  <a:srgbClr val="007185"/>
                </a:solidFill>
                <a:latin typeface="Arial"/>
              </a:defRPr>
            </a:pPr>
            <a:r>
              <a:t>OBSERVED CART · EV-01</a:t>
            </a:r>
          </a:p>
        </p:txBody>
      </p:sp>
      <p:pic>
        <p:nvPicPr>
          <p:cNvPr id="8" name="Picture 7" descr="cart-item.jpg"/>
          <p:cNvPicPr>
            <a:picLocks noChangeAspect="1"/>
          </p:cNvPicPr>
          <p:nvPr/>
        </p:nvPicPr>
        <p:blipFill>
          <a:blip r:embed="rId3"/>
          <a:stretch>
            <a:fillRect/>
          </a:stretch>
        </p:blipFill>
        <p:spPr>
          <a:xfrm>
            <a:off x="667512" y="2207425"/>
            <a:ext cx="5193792" cy="2415717"/>
          </a:xfrm>
          <a:prstGeom prst="rect">
            <a:avLst/>
          </a:prstGeom>
        </p:spPr>
      </p:pic>
      <p:sp>
        <p:nvSpPr>
          <p:cNvPr id="9" name="TextBox 8"/>
          <p:cNvSpPr txBox="1"/>
          <p:nvPr/>
        </p:nvSpPr>
        <p:spPr>
          <a:xfrm>
            <a:off x="6263640" y="1783080"/>
            <a:ext cx="5020056" cy="256032"/>
          </a:xfrm>
          <a:prstGeom prst="rect">
            <a:avLst/>
          </a:prstGeom>
          <a:noFill/>
        </p:spPr>
        <p:txBody>
          <a:bodyPr wrap="square" lIns="18288" rIns="18288" tIns="9144" bIns="9144">
            <a:spAutoFit/>
          </a:bodyPr>
          <a:lstStyle/>
          <a:p>
            <a:pPr>
              <a:spcAft>
                <a:spcPts val="700"/>
              </a:spcAft>
              <a:defRPr sz="1100" b="1">
                <a:solidFill>
                  <a:srgbClr val="C45500"/>
                </a:solidFill>
                <a:latin typeface="Arial"/>
              </a:defRPr>
            </a:pPr>
            <a:r>
              <a:t>PROPOSED CART</a:t>
            </a:r>
          </a:p>
        </p:txBody>
      </p:sp>
      <p:pic>
        <p:nvPicPr>
          <p:cNvPr id="10" name="Picture 9" descr="screen-01.png"/>
          <p:cNvPicPr>
            <a:picLocks noChangeAspect="1"/>
          </p:cNvPicPr>
          <p:nvPr/>
        </p:nvPicPr>
        <p:blipFill>
          <a:blip r:embed="rId4"/>
          <a:stretch>
            <a:fillRect/>
          </a:stretch>
        </p:blipFill>
        <p:spPr>
          <a:xfrm>
            <a:off x="6452616" y="2112264"/>
            <a:ext cx="4632960" cy="2606040"/>
          </a:xfrm>
          <a:prstGeom prst="rect">
            <a:avLst/>
          </a:prstGeom>
        </p:spPr>
      </p:pic>
      <p:sp>
        <p:nvSpPr>
          <p:cNvPr id="11" name="TextBox 10"/>
          <p:cNvSpPr txBox="1"/>
          <p:nvPr/>
        </p:nvSpPr>
        <p:spPr>
          <a:xfrm>
            <a:off x="713232" y="4983480"/>
            <a:ext cx="5010912" cy="329184"/>
          </a:xfrm>
          <a:prstGeom prst="rect">
            <a:avLst/>
          </a:prstGeom>
          <a:noFill/>
        </p:spPr>
        <p:txBody>
          <a:bodyPr wrap="square" lIns="18288" rIns="18288" tIns="9144" bIns="9144">
            <a:spAutoFit/>
          </a:bodyPr>
          <a:lstStyle/>
          <a:p>
            <a:pPr>
              <a:spcAft>
                <a:spcPts val="700"/>
              </a:spcAft>
              <a:defRPr sz="1700" b="1">
                <a:solidFill>
                  <a:srgbClr val="131921"/>
                </a:solidFill>
                <a:latin typeface="Arial"/>
              </a:defRPr>
            </a:pPr>
            <a:r>
              <a:t>Hypothesis: competing decisions</a:t>
            </a:r>
          </a:p>
        </p:txBody>
      </p:sp>
      <p:sp>
        <p:nvSpPr>
          <p:cNvPr id="12" name="TextBox 11"/>
          <p:cNvSpPr txBox="1"/>
          <p:nvPr/>
        </p:nvSpPr>
        <p:spPr>
          <a:xfrm>
            <a:off x="713232" y="5376672"/>
            <a:ext cx="5010912" cy="685800"/>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Promotion content and quantity control share the cart view. Decision effort has not been timed.</a:t>
            </a:r>
          </a:p>
        </p:txBody>
      </p:sp>
      <p:sp>
        <p:nvSpPr>
          <p:cNvPr id="13" name="TextBox 12"/>
          <p:cNvSpPr txBox="1"/>
          <p:nvPr/>
        </p:nvSpPr>
        <p:spPr>
          <a:xfrm>
            <a:off x="6300216" y="4983480"/>
            <a:ext cx="4992624" cy="329184"/>
          </a:xfrm>
          <a:prstGeom prst="rect">
            <a:avLst/>
          </a:prstGeom>
          <a:noFill/>
        </p:spPr>
        <p:txBody>
          <a:bodyPr wrap="square" lIns="18288" rIns="18288" tIns="9144" bIns="9144">
            <a:spAutoFit/>
          </a:bodyPr>
          <a:lstStyle/>
          <a:p>
            <a:pPr>
              <a:spcAft>
                <a:spcPts val="700"/>
              </a:spcAft>
              <a:defRPr sz="1700" b="1">
                <a:solidFill>
                  <a:srgbClr val="131921"/>
                </a:solidFill>
                <a:latin typeface="Arial"/>
              </a:defRPr>
            </a:pPr>
            <a:r>
              <a:t>Change: clearer action hierarchy</a:t>
            </a:r>
          </a:p>
        </p:txBody>
      </p:sp>
      <p:sp>
        <p:nvSpPr>
          <p:cNvPr id="14" name="TextBox 13"/>
          <p:cNvSpPr txBox="1"/>
          <p:nvPr/>
        </p:nvSpPr>
        <p:spPr>
          <a:xfrm>
            <a:off x="6300216" y="5376672"/>
            <a:ext cx="4992624" cy="685800"/>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Keep quantity and continue actions prominent, with larger consistent click areas.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06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04  Editing should preserve the journey</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Nielsen #3 and #7 · Jakob's Law: familiar editing · Fitts's Law: target size</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06 / 10</a:t>
            </a:r>
          </a:p>
        </p:txBody>
      </p:sp>
      <p:pic>
        <p:nvPicPr>
          <p:cNvPr id="7" name="Picture 6" descr="screen-05.png"/>
          <p:cNvPicPr>
            <a:picLocks noChangeAspect="1"/>
          </p:cNvPicPr>
          <p:nvPr/>
        </p:nvPicPr>
        <p:blipFill>
          <a:blip r:embed="rId3"/>
          <a:stretch>
            <a:fillRect/>
          </a:stretch>
        </p:blipFill>
        <p:spPr>
          <a:xfrm>
            <a:off x="676656" y="1793367"/>
            <a:ext cx="6400800" cy="3600450"/>
          </a:xfrm>
          <a:prstGeom prst="rect">
            <a:avLst/>
          </a:prstGeom>
        </p:spPr>
      </p:pic>
      <p:sp>
        <p:nvSpPr>
          <p:cNvPr id="8" name="TextBox 7"/>
          <p:cNvSpPr txBox="1"/>
          <p:nvPr/>
        </p:nvSpPr>
        <p:spPr>
          <a:xfrm>
            <a:off x="7360920" y="1892807"/>
            <a:ext cx="3986784" cy="256032"/>
          </a:xfrm>
          <a:prstGeom prst="rect">
            <a:avLst/>
          </a:prstGeom>
          <a:noFill/>
        </p:spPr>
        <p:txBody>
          <a:bodyPr wrap="square" lIns="18288" rIns="18288" tIns="9144" bIns="9144">
            <a:spAutoFit/>
          </a:bodyPr>
          <a:lstStyle/>
          <a:p>
            <a:pPr>
              <a:spcAft>
                <a:spcPts val="700"/>
              </a:spcAft>
              <a:defRPr sz="1100" b="1">
                <a:solidFill>
                  <a:srgbClr val="007185"/>
                </a:solidFill>
                <a:latin typeface="Arial"/>
              </a:defRPr>
            </a:pPr>
            <a:r>
              <a:t>WHAT WAS OBSERVED</a:t>
            </a:r>
          </a:p>
        </p:txBody>
      </p:sp>
      <p:sp>
        <p:nvSpPr>
          <p:cNvPr id="9" name="TextBox 8"/>
          <p:cNvSpPr txBox="1"/>
          <p:nvPr/>
        </p:nvSpPr>
        <p:spPr>
          <a:xfrm>
            <a:off x="7360920" y="2249424"/>
            <a:ext cx="3931920" cy="1005840"/>
          </a:xfrm>
          <a:prstGeom prst="rect">
            <a:avLst/>
          </a:prstGeom>
          <a:noFill/>
        </p:spPr>
        <p:txBody>
          <a:bodyPr wrap="square" lIns="18288" rIns="18288" tIns="9144" bIns="9144">
            <a:spAutoFit/>
          </a:bodyPr>
          <a:lstStyle/>
          <a:p>
            <a:pPr>
              <a:spcAft>
                <a:spcPts val="700"/>
              </a:spcAft>
              <a:defRPr sz="1700" b="0">
                <a:solidFill>
                  <a:srgbClr val="0F1111"/>
                </a:solidFill>
                <a:latin typeface="Arial"/>
              </a:defRPr>
            </a:pPr>
            <a:r>
              <a:t>The review flow offered Change links. The public crop does not show those controls or prove rework.</a:t>
            </a:r>
          </a:p>
        </p:txBody>
      </p:sp>
      <p:sp>
        <p:nvSpPr>
          <p:cNvPr id="10" name="TextBox 9"/>
          <p:cNvSpPr txBox="1"/>
          <p:nvPr/>
        </p:nvSpPr>
        <p:spPr>
          <a:xfrm>
            <a:off x="7360920" y="3703320"/>
            <a:ext cx="3986784" cy="256032"/>
          </a:xfrm>
          <a:prstGeom prst="rect">
            <a:avLst/>
          </a:prstGeom>
          <a:noFill/>
        </p:spPr>
        <p:txBody>
          <a:bodyPr wrap="square" lIns="18288" rIns="18288" tIns="9144" bIns="9144">
            <a:spAutoFit/>
          </a:bodyPr>
          <a:lstStyle/>
          <a:p>
            <a:pPr>
              <a:spcAft>
                <a:spcPts val="700"/>
              </a:spcAft>
              <a:defRPr sz="1100" b="1">
                <a:solidFill>
                  <a:srgbClr val="C45500"/>
                </a:solidFill>
                <a:latin typeface="Arial"/>
              </a:defRPr>
            </a:pPr>
            <a:r>
              <a:t>WHAT I CHANGED</a:t>
            </a:r>
          </a:p>
        </p:txBody>
      </p:sp>
      <p:sp>
        <p:nvSpPr>
          <p:cNvPr id="11" name="TextBox 10"/>
          <p:cNvSpPr txBox="1"/>
          <p:nvPr/>
        </p:nvSpPr>
        <p:spPr>
          <a:xfrm>
            <a:off x="7360920" y="4059936"/>
            <a:ext cx="3931920" cy="1024128"/>
          </a:xfrm>
          <a:prstGeom prst="rect">
            <a:avLst/>
          </a:prstGeom>
          <a:noFill/>
        </p:spPr>
        <p:txBody>
          <a:bodyPr wrap="square" lIns="18288" rIns="18288" tIns="9144" bIns="9144">
            <a:spAutoFit/>
          </a:bodyPr>
          <a:lstStyle/>
          <a:p>
            <a:pPr>
              <a:spcAft>
                <a:spcPts val="700"/>
              </a:spcAft>
              <a:defRPr sz="1700" b="0">
                <a:solidFill>
                  <a:srgbClr val="0F1111"/>
                </a:solidFill>
                <a:latin typeface="Arial"/>
              </a:defRPr>
            </a:pPr>
            <a:r>
              <a:t>Each decision has a direct Edit action. The interactive prototype keeps previous selections after editing.</a:t>
            </a:r>
          </a:p>
        </p:txBody>
      </p:sp>
      <p:sp>
        <p:nvSpPr>
          <p:cNvPr id="12" name="TextBox 11"/>
          <p:cNvSpPr txBox="1"/>
          <p:nvPr/>
        </p:nvSpPr>
        <p:spPr>
          <a:xfrm>
            <a:off x="713232" y="5916168"/>
            <a:ext cx="10607040" cy="365760"/>
          </a:xfrm>
          <a:prstGeom prst="rect">
            <a:avLst/>
          </a:prstGeom>
          <a:noFill/>
        </p:spPr>
        <p:txBody>
          <a:bodyPr wrap="square" lIns="18288" rIns="18288" tIns="9144" bIns="9144">
            <a:spAutoFit/>
          </a:bodyPr>
          <a:lstStyle/>
          <a:p>
            <a:pPr>
              <a:spcAft>
                <a:spcPts val="700"/>
              </a:spcAft>
              <a:defRPr sz="1500" b="1">
                <a:solidFill>
                  <a:srgbClr val="007185"/>
                </a:solidFill>
                <a:latin typeface="Arial"/>
              </a:defRPr>
            </a:pPr>
            <a:r>
              <a:t>Test: change address and payment from review; record wrong turns and retained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07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05  Failure recovery is a design scenario</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Nielsen #9: help users recognize, diagnose, and recover from errors</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07 / 10</a:t>
            </a:r>
          </a:p>
        </p:txBody>
      </p:sp>
      <p:sp>
        <p:nvSpPr>
          <p:cNvPr id="7" name="TextBox 6"/>
          <p:cNvSpPr txBox="1"/>
          <p:nvPr/>
        </p:nvSpPr>
        <p:spPr>
          <a:xfrm>
            <a:off x="694944" y="1847088"/>
            <a:ext cx="3749039" cy="256032"/>
          </a:xfrm>
          <a:prstGeom prst="rect">
            <a:avLst/>
          </a:prstGeom>
          <a:noFill/>
        </p:spPr>
        <p:txBody>
          <a:bodyPr wrap="square" lIns="18288" rIns="18288" tIns="9144" bIns="9144">
            <a:spAutoFit/>
          </a:bodyPr>
          <a:lstStyle/>
          <a:p>
            <a:pPr>
              <a:spcAft>
                <a:spcPts val="700"/>
              </a:spcAft>
              <a:defRPr sz="1100" b="1">
                <a:solidFill>
                  <a:srgbClr val="007185"/>
                </a:solidFill>
                <a:latin typeface="Arial"/>
              </a:defRPr>
            </a:pPr>
            <a:r>
              <a:t>OBSERVED OUTCOME · EV-06</a:t>
            </a:r>
          </a:p>
        </p:txBody>
      </p:sp>
      <p:pic>
        <p:nvPicPr>
          <p:cNvPr id="8" name="Picture 7" descr="order-confirmation.jpg"/>
          <p:cNvPicPr>
            <a:picLocks noChangeAspect="1"/>
          </p:cNvPicPr>
          <p:nvPr/>
        </p:nvPicPr>
        <p:blipFill>
          <a:blip r:embed="rId3"/>
          <a:stretch>
            <a:fillRect/>
          </a:stretch>
        </p:blipFill>
        <p:spPr>
          <a:xfrm>
            <a:off x="676656" y="2508758"/>
            <a:ext cx="4069080" cy="587756"/>
          </a:xfrm>
          <a:prstGeom prst="rect">
            <a:avLst/>
          </a:prstGeom>
        </p:spPr>
      </p:pic>
      <p:sp>
        <p:nvSpPr>
          <p:cNvPr id="9" name="TextBox 8"/>
          <p:cNvSpPr txBox="1"/>
          <p:nvPr/>
        </p:nvSpPr>
        <p:spPr>
          <a:xfrm>
            <a:off x="704088" y="3675887"/>
            <a:ext cx="3895344" cy="786384"/>
          </a:xfrm>
          <a:prstGeom prst="rect">
            <a:avLst/>
          </a:prstGeom>
          <a:noFill/>
        </p:spPr>
        <p:txBody>
          <a:bodyPr wrap="square" lIns="18288" rIns="18288" tIns="9144" bIns="9144">
            <a:spAutoFit/>
          </a:bodyPr>
          <a:lstStyle/>
          <a:p>
            <a:pPr>
              <a:spcAft>
                <a:spcPts val="700"/>
              </a:spcAft>
              <a:defRPr sz="1700" b="0">
                <a:solidFill>
                  <a:srgbClr val="0F1111"/>
                </a:solidFill>
                <a:latin typeface="Arial"/>
              </a:defRPr>
            </a:pPr>
            <a:r>
              <a:t>The observed order succeeded. No failure screen was captured.</a:t>
            </a:r>
          </a:p>
        </p:txBody>
      </p:sp>
      <p:sp>
        <p:nvSpPr>
          <p:cNvPr id="10" name="TextBox 9"/>
          <p:cNvSpPr txBox="1"/>
          <p:nvPr/>
        </p:nvSpPr>
        <p:spPr>
          <a:xfrm>
            <a:off x="5001768" y="1847088"/>
            <a:ext cx="6309360" cy="256032"/>
          </a:xfrm>
          <a:prstGeom prst="rect">
            <a:avLst/>
          </a:prstGeom>
          <a:noFill/>
        </p:spPr>
        <p:txBody>
          <a:bodyPr wrap="square" lIns="18288" rIns="18288" tIns="9144" bIns="9144">
            <a:spAutoFit/>
          </a:bodyPr>
          <a:lstStyle/>
          <a:p>
            <a:pPr>
              <a:spcAft>
                <a:spcPts val="700"/>
              </a:spcAft>
              <a:defRPr sz="1100" b="1">
                <a:solidFill>
                  <a:srgbClr val="C45500"/>
                </a:solidFill>
                <a:latin typeface="Arial"/>
              </a:defRPr>
            </a:pPr>
            <a:r>
              <a:t>PROPOSED FAILURE STATE</a:t>
            </a:r>
          </a:p>
        </p:txBody>
      </p:sp>
      <p:pic>
        <p:nvPicPr>
          <p:cNvPr id="11" name="Picture 10" descr="screen-07.png"/>
          <p:cNvPicPr>
            <a:picLocks noChangeAspect="1"/>
          </p:cNvPicPr>
          <p:nvPr/>
        </p:nvPicPr>
        <p:blipFill>
          <a:blip r:embed="rId4"/>
          <a:stretch>
            <a:fillRect/>
          </a:stretch>
        </p:blipFill>
        <p:spPr>
          <a:xfrm>
            <a:off x="5002784" y="2221992"/>
            <a:ext cx="6307327" cy="3547872"/>
          </a:xfrm>
          <a:prstGeom prst="rect">
            <a:avLst/>
          </a:prstGeom>
        </p:spPr>
      </p:pic>
      <p:sp>
        <p:nvSpPr>
          <p:cNvPr id="12" name="TextBox 11"/>
          <p:cNvSpPr txBox="1"/>
          <p:nvPr/>
        </p:nvSpPr>
        <p:spPr>
          <a:xfrm>
            <a:off x="713232" y="6016752"/>
            <a:ext cx="10588752" cy="329184"/>
          </a:xfrm>
          <a:prstGeom prst="rect">
            <a:avLst/>
          </a:prstGeom>
          <a:noFill/>
        </p:spPr>
        <p:txBody>
          <a:bodyPr wrap="square" lIns="18288" rIns="18288" tIns="9144" bIns="9144">
            <a:spAutoFit/>
          </a:bodyPr>
          <a:lstStyle/>
          <a:p>
            <a:pPr>
              <a:spcAft>
                <a:spcPts val="700"/>
              </a:spcAft>
              <a:defRPr sz="1500" b="1">
                <a:solidFill>
                  <a:srgbClr val="007185"/>
                </a:solidFill>
                <a:latin typeface="Arial"/>
              </a:defRPr>
            </a:pPr>
            <a:r>
              <a:t>The concept makes transaction status explicit and offers safe recovery.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08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Heuristic map: observation, risk, response</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A heuristic concern is an expert assessment. A user impact requires a user study.</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08 / 10</a:t>
            </a:r>
          </a:p>
        </p:txBody>
      </p:sp>
      <p:graphicFrame>
        <p:nvGraphicFramePr>
          <p:cNvPr id="7" name="Table 6"/>
          <p:cNvGraphicFramePr>
            <a:graphicFrameLocks noGrp="1"/>
          </p:cNvGraphicFramePr>
          <p:nvPr/>
        </p:nvGraphicFramePr>
        <p:xfrm>
          <a:off x="603504" y="1883664"/>
          <a:ext cx="10972800" cy="3730752"/>
        </p:xfrm>
        <a:graphic>
          <a:graphicData uri="http://schemas.openxmlformats.org/drawingml/2006/table">
            <a:tbl>
              <a:tblPr firstRow="1" bandRow="1">
                <a:tableStyleId>{5C22544A-7EE6-4342-B048-85BDC9FD1C3A}</a:tableStyleId>
              </a:tblPr>
              <a:tblGrid>
                <a:gridCol w="1929384"/>
                <a:gridCol w="2889504"/>
                <a:gridCol w="2889504"/>
                <a:gridCol w="3264408"/>
              </a:tblGrid>
              <a:tr h="532964">
                <a:tc>
                  <a:txBody>
                    <a:bodyPr/>
                    <a:lstStyle/>
                    <a:p>
                      <a:pPr>
                        <a:defRPr sz="1300" b="1">
                          <a:solidFill>
                            <a:srgbClr val="FFFFFF"/>
                          </a:solidFill>
                          <a:latin typeface="Arial"/>
                        </a:defRPr>
                      </a:pPr>
                      <a:r>
                        <a:t>Heuristic</a:t>
                      </a:r>
                    </a:p>
                  </a:txBody>
                  <a:tcPr marL="118872" marR="82296" marT="91440" marB="54864">
                    <a:solidFill>
                      <a:srgbClr val="131921"/>
                    </a:solidFill>
                  </a:tcPr>
                </a:tc>
                <a:tc>
                  <a:txBody>
                    <a:bodyPr/>
                    <a:lstStyle/>
                    <a:p>
                      <a:pPr>
                        <a:defRPr sz="1300" b="1">
                          <a:solidFill>
                            <a:srgbClr val="FFFFFF"/>
                          </a:solidFill>
                          <a:latin typeface="Arial"/>
                        </a:defRPr>
                      </a:pPr>
                      <a:r>
                        <a:t>Observed</a:t>
                      </a:r>
                    </a:p>
                  </a:txBody>
                  <a:tcPr marL="118872" marR="82296" marT="91440" marB="54864">
                    <a:solidFill>
                      <a:srgbClr val="131921"/>
                    </a:solidFill>
                  </a:tcPr>
                </a:tc>
                <a:tc>
                  <a:txBody>
                    <a:bodyPr/>
                    <a:lstStyle/>
                    <a:p>
                      <a:pPr>
                        <a:defRPr sz="1300" b="1">
                          <a:solidFill>
                            <a:srgbClr val="FFFFFF"/>
                          </a:solidFill>
                          <a:latin typeface="Arial"/>
                        </a:defRPr>
                      </a:pPr>
                      <a:r>
                        <a:t>Risk or limit</a:t>
                      </a:r>
                    </a:p>
                  </a:txBody>
                  <a:tcPr marL="118872" marR="82296" marT="91440" marB="54864">
                    <a:solidFill>
                      <a:srgbClr val="131921"/>
                    </a:solidFill>
                  </a:tcPr>
                </a:tc>
                <a:tc>
                  <a:txBody>
                    <a:bodyPr/>
                    <a:lstStyle/>
                    <a:p>
                      <a:pPr>
                        <a:defRPr sz="1300" b="1">
                          <a:solidFill>
                            <a:srgbClr val="FFFFFF"/>
                          </a:solidFill>
                          <a:latin typeface="Arial"/>
                        </a:defRPr>
                      </a:pPr>
                      <a:r>
                        <a:t>Proposed change</a:t>
                      </a:r>
                    </a:p>
                  </a:txBody>
                  <a:tcPr marL="118872" marR="82296" marT="91440" marB="54864">
                    <a:solidFill>
                      <a:srgbClr val="131921"/>
                    </a:solidFill>
                  </a:tcPr>
                </a:tc>
              </a:tr>
              <a:tr h="532964">
                <a:tc>
                  <a:txBody>
                    <a:bodyPr/>
                    <a:lstStyle/>
                    <a:p>
                      <a:pPr>
                        <a:defRPr sz="1200" b="1">
                          <a:solidFill>
                            <a:srgbClr val="0F1111"/>
                          </a:solidFill>
                          <a:latin typeface="Arial"/>
                        </a:defRPr>
                      </a:pPr>
                      <a:r>
                        <a:t>#1 Visibility</a:t>
                      </a:r>
                    </a:p>
                  </a:txBody>
                  <a:tcPr marL="118872" marR="82296" marT="91440" marB="54864">
                    <a:solidFill>
                      <a:srgbClr val="FFFFFF"/>
                    </a:solidFill>
                  </a:tcPr>
                </a:tc>
                <a:tc>
                  <a:txBody>
                    <a:bodyPr/>
                    <a:lstStyle/>
                    <a:p>
                      <a:pPr>
                        <a:defRPr sz="1200" b="0">
                          <a:solidFill>
                            <a:srgbClr val="0F1111"/>
                          </a:solidFill>
                          <a:latin typeface="Arial"/>
                        </a:defRPr>
                      </a:pPr>
                      <a:r>
                        <a:t>₹7 COD fee and ₹214 total visible</a:t>
                      </a:r>
                    </a:p>
                  </a:txBody>
                  <a:tcPr marL="118872" marR="82296" marT="91440" marB="54864">
                    <a:solidFill>
                      <a:srgbClr val="FFFFFF"/>
                    </a:solidFill>
                  </a:tcPr>
                </a:tc>
                <a:tc>
                  <a:txBody>
                    <a:bodyPr/>
                    <a:lstStyle/>
                    <a:p>
                      <a:pPr>
                        <a:defRPr sz="1200" b="0">
                          <a:solidFill>
                            <a:srgbClr val="0F1111"/>
                          </a:solidFill>
                          <a:latin typeface="Arial"/>
                        </a:defRPr>
                      </a:pPr>
                      <a:r>
                        <a:t>Fee comprehension unknown</a:t>
                      </a:r>
                    </a:p>
                  </a:txBody>
                  <a:tcPr marL="118872" marR="82296" marT="91440" marB="54864">
                    <a:solidFill>
                      <a:srgbClr val="FFFFFF"/>
                    </a:solidFill>
                  </a:tcPr>
                </a:tc>
                <a:tc>
                  <a:txBody>
                    <a:bodyPr/>
                    <a:lstStyle/>
                    <a:p>
                      <a:pPr>
                        <a:defRPr sz="1200" b="0">
                          <a:solidFill>
                            <a:srgbClr val="0F1111"/>
                          </a:solidFill>
                          <a:latin typeface="Arial"/>
                        </a:defRPr>
                      </a:pPr>
                      <a:r>
                        <a:t>Persistent itemized total</a:t>
                      </a:r>
                    </a:p>
                  </a:txBody>
                  <a:tcPr marL="118872" marR="82296" marT="91440" marB="54864">
                    <a:solidFill>
                      <a:srgbClr val="FFFFFF"/>
                    </a:solidFill>
                  </a:tcPr>
                </a:tc>
              </a:tr>
              <a:tr h="532964">
                <a:tc>
                  <a:txBody>
                    <a:bodyPr/>
                    <a:lstStyle/>
                    <a:p>
                      <a:pPr>
                        <a:defRPr sz="1200" b="1">
                          <a:solidFill>
                            <a:srgbClr val="0F1111"/>
                          </a:solidFill>
                          <a:latin typeface="Arial"/>
                        </a:defRPr>
                      </a:pPr>
                      <a:r>
                        <a:t>#2 Real-world match</a:t>
                      </a:r>
                    </a:p>
                  </a:txBody>
                  <a:tcPr marL="118872" marR="82296" marT="91440" marB="54864">
                    <a:solidFill>
                      <a:srgbClr val="F7F8F8"/>
                    </a:solidFill>
                  </a:tcPr>
                </a:tc>
                <a:tc>
                  <a:txBody>
                    <a:bodyPr/>
                    <a:lstStyle/>
                    <a:p>
                      <a:pPr>
                        <a:defRPr sz="1200" b="0">
                          <a:solidFill>
                            <a:srgbClr val="0F1111"/>
                          </a:solidFill>
                          <a:latin typeface="Arial"/>
                        </a:defRPr>
                      </a:pPr>
                      <a:r>
                        <a:t>Several payment labels shown</a:t>
                      </a:r>
                    </a:p>
                  </a:txBody>
                  <a:tcPr marL="118872" marR="82296" marT="91440" marB="54864">
                    <a:solidFill>
                      <a:srgbClr val="F7F8F8"/>
                    </a:solidFill>
                  </a:tcPr>
                </a:tc>
                <a:tc>
                  <a:txBody>
                    <a:bodyPr/>
                    <a:lstStyle/>
                    <a:p>
                      <a:pPr>
                        <a:defRPr sz="1200" b="0">
                          <a:solidFill>
                            <a:srgbClr val="0F1111"/>
                          </a:solidFill>
                          <a:latin typeface="Arial"/>
                        </a:defRPr>
                      </a:pPr>
                      <a:r>
                        <a:t>Meaning or fee may need context</a:t>
                      </a:r>
                    </a:p>
                  </a:txBody>
                  <a:tcPr marL="118872" marR="82296" marT="91440" marB="54864">
                    <a:solidFill>
                      <a:srgbClr val="F7F8F8"/>
                    </a:solidFill>
                  </a:tcPr>
                </a:tc>
                <a:tc>
                  <a:txBody>
                    <a:bodyPr/>
                    <a:lstStyle/>
                    <a:p>
                      <a:pPr>
                        <a:defRPr sz="1200" b="0">
                          <a:solidFill>
                            <a:srgbClr val="0F1111"/>
                          </a:solidFill>
                          <a:latin typeface="Arial"/>
                        </a:defRPr>
                      </a:pPr>
                      <a:r>
                        <a:t>Plain labels and fee at choice</a:t>
                      </a:r>
                    </a:p>
                  </a:txBody>
                  <a:tcPr marL="118872" marR="82296" marT="91440" marB="54864">
                    <a:solidFill>
                      <a:srgbClr val="F7F8F8"/>
                    </a:solidFill>
                  </a:tcPr>
                </a:tc>
              </a:tr>
              <a:tr h="532964">
                <a:tc>
                  <a:txBody>
                    <a:bodyPr/>
                    <a:lstStyle/>
                    <a:p>
                      <a:pPr>
                        <a:defRPr sz="1200" b="1">
                          <a:solidFill>
                            <a:srgbClr val="0F1111"/>
                          </a:solidFill>
                          <a:latin typeface="Arial"/>
                        </a:defRPr>
                      </a:pPr>
                      <a:r>
                        <a:t>#3 User control</a:t>
                      </a:r>
                    </a:p>
                  </a:txBody>
                  <a:tcPr marL="118872" marR="82296" marT="91440" marB="54864">
                    <a:solidFill>
                      <a:srgbClr val="FFFFFF"/>
                    </a:solidFill>
                  </a:tcPr>
                </a:tc>
                <a:tc>
                  <a:txBody>
                    <a:bodyPr/>
                    <a:lstStyle/>
                    <a:p>
                      <a:pPr>
                        <a:defRPr sz="1200" b="0">
                          <a:solidFill>
                            <a:srgbClr val="0F1111"/>
                          </a:solidFill>
                          <a:latin typeface="Arial"/>
                        </a:defRPr>
                      </a:pPr>
                      <a:r>
                        <a:t>Change links observed at review</a:t>
                      </a:r>
                    </a:p>
                  </a:txBody>
                  <a:tcPr marL="118872" marR="82296" marT="91440" marB="54864">
                    <a:solidFill>
                      <a:srgbClr val="FFFFFF"/>
                    </a:solidFill>
                  </a:tcPr>
                </a:tc>
                <a:tc>
                  <a:txBody>
                    <a:bodyPr/>
                    <a:lstStyle/>
                    <a:p>
                      <a:pPr>
                        <a:defRPr sz="1200" b="0">
                          <a:solidFill>
                            <a:srgbClr val="0F1111"/>
                          </a:solidFill>
                          <a:latin typeface="Arial"/>
                        </a:defRPr>
                      </a:pPr>
                      <a:r>
                        <a:t>Rework not established</a:t>
                      </a:r>
                    </a:p>
                  </a:txBody>
                  <a:tcPr marL="118872" marR="82296" marT="91440" marB="54864">
                    <a:solidFill>
                      <a:srgbClr val="FFFFFF"/>
                    </a:solidFill>
                  </a:tcPr>
                </a:tc>
                <a:tc>
                  <a:txBody>
                    <a:bodyPr/>
                    <a:lstStyle/>
                    <a:p>
                      <a:pPr>
                        <a:defRPr sz="1200" b="0">
                          <a:solidFill>
                            <a:srgbClr val="0F1111"/>
                          </a:solidFill>
                          <a:latin typeface="Arial"/>
                        </a:defRPr>
                      </a:pPr>
                      <a:r>
                        <a:t>Direct Edit, retained choices</a:t>
                      </a:r>
                    </a:p>
                  </a:txBody>
                  <a:tcPr marL="118872" marR="82296" marT="91440" marB="54864">
                    <a:solidFill>
                      <a:srgbClr val="FFFFFF"/>
                    </a:solidFill>
                  </a:tcPr>
                </a:tc>
              </a:tr>
              <a:tr h="532964">
                <a:tc>
                  <a:txBody>
                    <a:bodyPr/>
                    <a:lstStyle/>
                    <a:p>
                      <a:pPr>
                        <a:defRPr sz="1200" b="1">
                          <a:solidFill>
                            <a:srgbClr val="0F1111"/>
                          </a:solidFill>
                          <a:latin typeface="Arial"/>
                        </a:defRPr>
                      </a:pPr>
                      <a:r>
                        <a:t>#7 Efficiency</a:t>
                      </a:r>
                    </a:p>
                  </a:txBody>
                  <a:tcPr marL="118872" marR="82296" marT="91440" marB="54864">
                    <a:solidFill>
                      <a:srgbClr val="F7F8F8"/>
                    </a:solidFill>
                  </a:tcPr>
                </a:tc>
                <a:tc>
                  <a:txBody>
                    <a:bodyPr/>
                    <a:lstStyle/>
                    <a:p>
                      <a:pPr>
                        <a:defRPr sz="1200" b="0">
                          <a:solidFill>
                            <a:srgbClr val="0F1111"/>
                          </a:solidFill>
                          <a:latin typeface="Arial"/>
                        </a:defRPr>
                      </a:pPr>
                      <a:r>
                        <a:t>Quantity and Change controls visible</a:t>
                      </a:r>
                    </a:p>
                  </a:txBody>
                  <a:tcPr marL="118872" marR="82296" marT="91440" marB="54864">
                    <a:solidFill>
                      <a:srgbClr val="F7F8F8"/>
                    </a:solidFill>
                  </a:tcPr>
                </a:tc>
                <a:tc>
                  <a:txBody>
                    <a:bodyPr/>
                    <a:lstStyle/>
                    <a:p>
                      <a:pPr>
                        <a:defRPr sz="1200" b="0">
                          <a:solidFill>
                            <a:srgbClr val="0F1111"/>
                          </a:solidFill>
                          <a:latin typeface="Arial"/>
                        </a:defRPr>
                      </a:pPr>
                      <a:r>
                        <a:t>Pointer misses unmeasured</a:t>
                      </a:r>
                    </a:p>
                  </a:txBody>
                  <a:tcPr marL="118872" marR="82296" marT="91440" marB="54864">
                    <a:solidFill>
                      <a:srgbClr val="F7F8F8"/>
                    </a:solidFill>
                  </a:tcPr>
                </a:tc>
                <a:tc>
                  <a:txBody>
                    <a:bodyPr/>
                    <a:lstStyle/>
                    <a:p>
                      <a:pPr>
                        <a:defRPr sz="1200" b="0">
                          <a:solidFill>
                            <a:srgbClr val="0F1111"/>
                          </a:solidFill>
                          <a:latin typeface="Arial"/>
                        </a:defRPr>
                      </a:pPr>
                      <a:r>
                        <a:t>Consistent click targets</a:t>
                      </a:r>
                    </a:p>
                  </a:txBody>
                  <a:tcPr marL="118872" marR="82296" marT="91440" marB="54864">
                    <a:solidFill>
                      <a:srgbClr val="F7F8F8"/>
                    </a:solidFill>
                  </a:tcPr>
                </a:tc>
              </a:tr>
              <a:tr h="532964">
                <a:tc>
                  <a:txBody>
                    <a:bodyPr/>
                    <a:lstStyle/>
                    <a:p>
                      <a:pPr>
                        <a:defRPr sz="1200" b="1">
                          <a:solidFill>
                            <a:srgbClr val="0F1111"/>
                          </a:solidFill>
                          <a:latin typeface="Arial"/>
                        </a:defRPr>
                      </a:pPr>
                      <a:r>
                        <a:t>#8 Minimalism</a:t>
                      </a:r>
                    </a:p>
                  </a:txBody>
                  <a:tcPr marL="118872" marR="82296" marT="91440" marB="54864">
                    <a:solidFill>
                      <a:srgbClr val="FFFFFF"/>
                    </a:solidFill>
                  </a:tcPr>
                </a:tc>
                <a:tc>
                  <a:txBody>
                    <a:bodyPr/>
                    <a:lstStyle/>
                    <a:p>
                      <a:pPr>
                        <a:defRPr sz="1200" b="0">
                          <a:solidFill>
                            <a:srgbClr val="0F1111"/>
                          </a:solidFill>
                          <a:latin typeface="Arial"/>
                        </a:defRPr>
                      </a:pPr>
                      <a:r>
                        <a:t>Promotions and choices share view</a:t>
                      </a:r>
                    </a:p>
                  </a:txBody>
                  <a:tcPr marL="118872" marR="82296" marT="91440" marB="54864">
                    <a:solidFill>
                      <a:srgbClr val="FFFFFF"/>
                    </a:solidFill>
                  </a:tcPr>
                </a:tc>
                <a:tc>
                  <a:txBody>
                    <a:bodyPr/>
                    <a:lstStyle/>
                    <a:p>
                      <a:pPr>
                        <a:defRPr sz="1200" b="0">
                          <a:solidFill>
                            <a:srgbClr val="0F1111"/>
                          </a:solidFill>
                          <a:latin typeface="Arial"/>
                        </a:defRPr>
                      </a:pPr>
                      <a:r>
                        <a:t>Decision effort unmeasured</a:t>
                      </a:r>
                    </a:p>
                  </a:txBody>
                  <a:tcPr marL="118872" marR="82296" marT="91440" marB="54864">
                    <a:solidFill>
                      <a:srgbClr val="FFFFFF"/>
                    </a:solidFill>
                  </a:tcPr>
                </a:tc>
                <a:tc>
                  <a:txBody>
                    <a:bodyPr/>
                    <a:lstStyle/>
                    <a:p>
                      <a:pPr>
                        <a:defRPr sz="1200" b="0">
                          <a:solidFill>
                            <a:srgbClr val="0F1111"/>
                          </a:solidFill>
                          <a:latin typeface="Arial"/>
                        </a:defRPr>
                      </a:pPr>
                      <a:r>
                        <a:t>Clearer hierarchy</a:t>
                      </a:r>
                    </a:p>
                  </a:txBody>
                  <a:tcPr marL="118872" marR="82296" marT="91440" marB="54864">
                    <a:solidFill>
                      <a:srgbClr val="FFFFFF"/>
                    </a:solidFill>
                  </a:tcPr>
                </a:tc>
              </a:tr>
              <a:tr h="532968">
                <a:tc>
                  <a:txBody>
                    <a:bodyPr/>
                    <a:lstStyle/>
                    <a:p>
                      <a:pPr>
                        <a:defRPr sz="1200" b="1">
                          <a:solidFill>
                            <a:srgbClr val="0F1111"/>
                          </a:solidFill>
                          <a:latin typeface="Arial"/>
                        </a:defRPr>
                      </a:pPr>
                      <a:r>
                        <a:t>#9 Error recovery</a:t>
                      </a:r>
                    </a:p>
                  </a:txBody>
                  <a:tcPr marL="118872" marR="82296" marT="91440" marB="54864">
                    <a:solidFill>
                      <a:srgbClr val="F7F8F8"/>
                    </a:solidFill>
                  </a:tcPr>
                </a:tc>
                <a:tc>
                  <a:txBody>
                    <a:bodyPr/>
                    <a:lstStyle/>
                    <a:p>
                      <a:pPr>
                        <a:defRPr sz="1200" b="0">
                          <a:solidFill>
                            <a:srgbClr val="0F1111"/>
                          </a:solidFill>
                          <a:latin typeface="Arial"/>
                        </a:defRPr>
                      </a:pPr>
                      <a:r>
                        <a:t>No failure captured</a:t>
                      </a:r>
                    </a:p>
                  </a:txBody>
                  <a:tcPr marL="118872" marR="82296" marT="91440" marB="54864">
                    <a:solidFill>
                      <a:srgbClr val="F7F8F8"/>
                    </a:solidFill>
                  </a:tcPr>
                </a:tc>
                <a:tc>
                  <a:txBody>
                    <a:bodyPr/>
                    <a:lstStyle/>
                    <a:p>
                      <a:pPr>
                        <a:defRPr sz="1200" b="0">
                          <a:solidFill>
                            <a:srgbClr val="0F1111"/>
                          </a:solidFill>
                          <a:latin typeface="Arial"/>
                        </a:defRPr>
                      </a:pPr>
                      <a:r>
                        <a:t>Scenario only</a:t>
                      </a:r>
                    </a:p>
                  </a:txBody>
                  <a:tcPr marL="118872" marR="82296" marT="91440" marB="54864">
                    <a:solidFill>
                      <a:srgbClr val="F7F8F8"/>
                    </a:solidFill>
                  </a:tcPr>
                </a:tc>
                <a:tc>
                  <a:txBody>
                    <a:bodyPr/>
                    <a:lstStyle/>
                    <a:p>
                      <a:pPr>
                        <a:defRPr sz="1200" b="0">
                          <a:solidFill>
                            <a:srgbClr val="0F1111"/>
                          </a:solidFill>
                          <a:latin typeface="Arial"/>
                        </a:defRPr>
                      </a:pPr>
                      <a:r>
                        <a:t>Explicit status and safe retry</a:t>
                      </a:r>
                    </a:p>
                  </a:txBody>
                  <a:tcPr marL="118872" marR="82296" marT="91440" marB="54864">
                    <a:solidFill>
                      <a:srgbClr val="F7F8F8"/>
                    </a:solidFill>
                  </a:tcPr>
                </a:tc>
              </a:tr>
            </a:tbl>
          </a:graphicData>
        </a:graphic>
      </p:graphicFrame>
      <p:sp>
        <p:nvSpPr>
          <p:cNvPr id="8" name="TextBox 7"/>
          <p:cNvSpPr txBox="1"/>
          <p:nvPr/>
        </p:nvSpPr>
        <p:spPr>
          <a:xfrm>
            <a:off x="640080" y="5870448"/>
            <a:ext cx="10835640" cy="310896"/>
          </a:xfrm>
          <a:prstGeom prst="rect">
            <a:avLst/>
          </a:prstGeom>
          <a:noFill/>
        </p:spPr>
        <p:txBody>
          <a:bodyPr wrap="square" lIns="18288" rIns="18288" tIns="9144" bIns="9144">
            <a:spAutoFit/>
          </a:bodyPr>
          <a:lstStyle/>
          <a:p>
            <a:pPr>
              <a:spcAft>
                <a:spcPts val="700"/>
              </a:spcAft>
              <a:defRPr sz="1400" b="1">
                <a:solidFill>
                  <a:srgbClr val="C45500"/>
                </a:solidFill>
                <a:latin typeface="Arial"/>
              </a:defRPr>
            </a:pPr>
            <a:r>
              <a:t>No measured conversion, error, time, or satisfaction baseline is available.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09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The new design makes decisions more explicit</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Nine editable screens in Penpot and PowerPoint. A separate React prototype demonstrates the flow.</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09 / 10</a:t>
            </a:r>
          </a:p>
        </p:txBody>
      </p:sp>
      <p:pic>
        <p:nvPicPr>
          <p:cNvPr id="7" name="Picture 6" descr="screen-04.png"/>
          <p:cNvPicPr>
            <a:picLocks noChangeAspect="1"/>
          </p:cNvPicPr>
          <p:nvPr/>
        </p:nvPicPr>
        <p:blipFill>
          <a:blip r:embed="rId3"/>
          <a:stretch>
            <a:fillRect/>
          </a:stretch>
        </p:blipFill>
        <p:spPr>
          <a:xfrm>
            <a:off x="667512" y="2017966"/>
            <a:ext cx="3456432" cy="1944243"/>
          </a:xfrm>
          <a:prstGeom prst="rect">
            <a:avLst/>
          </a:prstGeom>
        </p:spPr>
      </p:pic>
      <p:sp>
        <p:nvSpPr>
          <p:cNvPr id="8" name="TextBox 7"/>
          <p:cNvSpPr txBox="1"/>
          <p:nvPr/>
        </p:nvSpPr>
        <p:spPr>
          <a:xfrm>
            <a:off x="667512" y="4352544"/>
            <a:ext cx="3374136" cy="365760"/>
          </a:xfrm>
          <a:prstGeom prst="rect">
            <a:avLst/>
          </a:prstGeom>
          <a:noFill/>
        </p:spPr>
        <p:txBody>
          <a:bodyPr wrap="square" lIns="18288" rIns="18288" tIns="9144" bIns="9144">
            <a:spAutoFit/>
          </a:bodyPr>
          <a:lstStyle/>
          <a:p>
            <a:pPr>
              <a:spcAft>
                <a:spcPts val="700"/>
              </a:spcAft>
              <a:defRPr sz="2000" b="1">
                <a:solidFill>
                  <a:srgbClr val="131921"/>
                </a:solidFill>
                <a:latin typeface="Arial"/>
              </a:defRPr>
            </a:pPr>
            <a:r>
              <a:t>Payment</a:t>
            </a:r>
          </a:p>
        </p:txBody>
      </p:sp>
      <p:sp>
        <p:nvSpPr>
          <p:cNvPr id="9" name="TextBox 8"/>
          <p:cNvSpPr txBox="1"/>
          <p:nvPr/>
        </p:nvSpPr>
        <p:spPr>
          <a:xfrm>
            <a:off x="667512" y="4773168"/>
            <a:ext cx="3346704" cy="612648"/>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Fee shown with the method</a:t>
            </a:r>
          </a:p>
        </p:txBody>
      </p:sp>
      <p:pic>
        <p:nvPicPr>
          <p:cNvPr id="10" name="Picture 9" descr="screen-05.png"/>
          <p:cNvPicPr>
            <a:picLocks noChangeAspect="1"/>
          </p:cNvPicPr>
          <p:nvPr/>
        </p:nvPicPr>
        <p:blipFill>
          <a:blip r:embed="rId4"/>
          <a:stretch>
            <a:fillRect/>
          </a:stretch>
        </p:blipFill>
        <p:spPr>
          <a:xfrm>
            <a:off x="4343400" y="2017966"/>
            <a:ext cx="3456432" cy="1944243"/>
          </a:xfrm>
          <a:prstGeom prst="rect">
            <a:avLst/>
          </a:prstGeom>
        </p:spPr>
      </p:pic>
      <p:sp>
        <p:nvSpPr>
          <p:cNvPr id="11" name="TextBox 10"/>
          <p:cNvSpPr txBox="1"/>
          <p:nvPr/>
        </p:nvSpPr>
        <p:spPr>
          <a:xfrm>
            <a:off x="4343400" y="4352544"/>
            <a:ext cx="3374136" cy="365760"/>
          </a:xfrm>
          <a:prstGeom prst="rect">
            <a:avLst/>
          </a:prstGeom>
          <a:noFill/>
        </p:spPr>
        <p:txBody>
          <a:bodyPr wrap="square" lIns="18288" rIns="18288" tIns="9144" bIns="9144">
            <a:spAutoFit/>
          </a:bodyPr>
          <a:lstStyle/>
          <a:p>
            <a:pPr>
              <a:spcAft>
                <a:spcPts val="700"/>
              </a:spcAft>
              <a:defRPr sz="2000" b="1">
                <a:solidFill>
                  <a:srgbClr val="131921"/>
                </a:solidFill>
                <a:latin typeface="Arial"/>
              </a:defRPr>
            </a:pPr>
            <a:r>
              <a:t>Review</a:t>
            </a:r>
          </a:p>
        </p:txBody>
      </p:sp>
      <p:sp>
        <p:nvSpPr>
          <p:cNvPr id="12" name="TextBox 11"/>
          <p:cNvSpPr txBox="1"/>
          <p:nvPr/>
        </p:nvSpPr>
        <p:spPr>
          <a:xfrm>
            <a:off x="4343400" y="4773168"/>
            <a:ext cx="3346704" cy="612648"/>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Total and edits together</a:t>
            </a:r>
          </a:p>
        </p:txBody>
      </p:sp>
      <p:pic>
        <p:nvPicPr>
          <p:cNvPr id="13" name="Picture 12" descr="screen-07.png"/>
          <p:cNvPicPr>
            <a:picLocks noChangeAspect="1"/>
          </p:cNvPicPr>
          <p:nvPr/>
        </p:nvPicPr>
        <p:blipFill>
          <a:blip r:embed="rId5"/>
          <a:stretch>
            <a:fillRect/>
          </a:stretch>
        </p:blipFill>
        <p:spPr>
          <a:xfrm>
            <a:off x="8028431" y="2017966"/>
            <a:ext cx="3456432" cy="1944243"/>
          </a:xfrm>
          <a:prstGeom prst="rect">
            <a:avLst/>
          </a:prstGeom>
        </p:spPr>
      </p:pic>
      <p:sp>
        <p:nvSpPr>
          <p:cNvPr id="14" name="TextBox 13"/>
          <p:cNvSpPr txBox="1"/>
          <p:nvPr/>
        </p:nvSpPr>
        <p:spPr>
          <a:xfrm>
            <a:off x="8028431" y="4352544"/>
            <a:ext cx="3374136" cy="365760"/>
          </a:xfrm>
          <a:prstGeom prst="rect">
            <a:avLst/>
          </a:prstGeom>
          <a:noFill/>
        </p:spPr>
        <p:txBody>
          <a:bodyPr wrap="square" lIns="18288" rIns="18288" tIns="9144" bIns="9144">
            <a:spAutoFit/>
          </a:bodyPr>
          <a:lstStyle/>
          <a:p>
            <a:pPr>
              <a:spcAft>
                <a:spcPts val="700"/>
              </a:spcAft>
              <a:defRPr sz="2000" b="1">
                <a:solidFill>
                  <a:srgbClr val="131921"/>
                </a:solidFill>
                <a:latin typeface="Arial"/>
              </a:defRPr>
            </a:pPr>
            <a:r>
              <a:t>Failure</a:t>
            </a:r>
          </a:p>
        </p:txBody>
      </p:sp>
      <p:sp>
        <p:nvSpPr>
          <p:cNvPr id="15" name="TextBox 14"/>
          <p:cNvSpPr txBox="1"/>
          <p:nvPr/>
        </p:nvSpPr>
        <p:spPr>
          <a:xfrm>
            <a:off x="8028431" y="4773168"/>
            <a:ext cx="3346704" cy="612648"/>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Status plus recovery</a:t>
            </a:r>
          </a:p>
        </p:txBody>
      </p:sp>
      <p:sp>
        <p:nvSpPr>
          <p:cNvPr id="16" name="TextBox 15"/>
          <p:cNvSpPr txBox="1"/>
          <p:nvPr/>
        </p:nvSpPr>
        <p:spPr>
          <a:xfrm>
            <a:off x="694944" y="5961888"/>
            <a:ext cx="10817352" cy="283464"/>
          </a:xfrm>
          <a:prstGeom prst="rect">
            <a:avLst/>
          </a:prstGeom>
          <a:noFill/>
        </p:spPr>
        <p:txBody>
          <a:bodyPr wrap="square" lIns="18288" rIns="18288" tIns="9144" bIns="9144">
            <a:spAutoFit/>
          </a:bodyPr>
          <a:lstStyle/>
          <a:p>
            <a:pPr>
              <a:spcAft>
                <a:spcPts val="700"/>
              </a:spcAft>
              <a:defRPr sz="1500" b="1">
                <a:solidFill>
                  <a:srgbClr val="007185"/>
                </a:solidFill>
                <a:latin typeface="Arial"/>
              </a:defRPr>
            </a:pPr>
            <a:r>
              <a:t>Prototype: kunalmahurkar.is-a.dev/amazon-checkout-prototype/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66928" y="246888"/>
            <a:ext cx="4937760" cy="256032"/>
          </a:xfrm>
          <a:prstGeom prst="rect">
            <a:avLst/>
          </a:prstGeom>
          <a:noFill/>
        </p:spPr>
        <p:txBody>
          <a:bodyPr wrap="square" lIns="18288" rIns="18288" tIns="9144" bIns="9144">
            <a:spAutoFit/>
          </a:bodyPr>
          <a:lstStyle/>
          <a:p>
            <a:pPr>
              <a:spcAft>
                <a:spcPts val="700"/>
              </a:spcAft>
              <a:defRPr sz="1000" b="1">
                <a:solidFill>
                  <a:srgbClr val="007185"/>
                </a:solidFill>
                <a:latin typeface="Arial"/>
              </a:defRPr>
            </a:pPr>
            <a:r>
              <a:t>10  AMAZON INDIA CHECKOUT</a:t>
            </a:r>
          </a:p>
        </p:txBody>
      </p:sp>
      <p:sp>
        <p:nvSpPr>
          <p:cNvPr id="3" name="TextBox 2"/>
          <p:cNvSpPr txBox="1"/>
          <p:nvPr/>
        </p:nvSpPr>
        <p:spPr>
          <a:xfrm>
            <a:off x="566928" y="640080"/>
            <a:ext cx="11018520" cy="621792"/>
          </a:xfrm>
          <a:prstGeom prst="rect">
            <a:avLst/>
          </a:prstGeom>
          <a:noFill/>
        </p:spPr>
        <p:txBody>
          <a:bodyPr wrap="square" lIns="18288" rIns="18288" tIns="9144" bIns="9144">
            <a:spAutoFit/>
          </a:bodyPr>
          <a:lstStyle/>
          <a:p>
            <a:pPr>
              <a:spcAft>
                <a:spcPts val="700"/>
              </a:spcAft>
              <a:defRPr sz="2900" b="1">
                <a:solidFill>
                  <a:srgbClr val="131921"/>
                </a:solidFill>
                <a:latin typeface="Arial"/>
              </a:defRPr>
            </a:pPr>
            <a:r>
              <a:t>Next step: test the proposed improvements</a:t>
            </a:r>
          </a:p>
        </p:txBody>
      </p:sp>
      <p:sp>
        <p:nvSpPr>
          <p:cNvPr id="4" name="TextBox 3"/>
          <p:cNvSpPr txBox="1"/>
          <p:nvPr/>
        </p:nvSpPr>
        <p:spPr>
          <a:xfrm>
            <a:off x="585216" y="1280160"/>
            <a:ext cx="10972800" cy="438912"/>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Priority reflects expert judgement. No usability sessions or outcome metrics have been measured.</a:t>
            </a:r>
          </a:p>
        </p:txBody>
      </p:sp>
      <p:sp>
        <p:nvSpPr>
          <p:cNvPr id="5" name="TextBox 4"/>
          <p:cNvSpPr txBox="1"/>
          <p:nvPr/>
        </p:nvSpPr>
        <p:spPr>
          <a:xfrm>
            <a:off x="566928" y="6547104"/>
            <a:ext cx="9601200" cy="164592"/>
          </a:xfrm>
          <a:prstGeom prst="rect">
            <a:avLst/>
          </a:prstGeom>
          <a:noFill/>
        </p:spPr>
        <p:txBody>
          <a:bodyPr wrap="square" lIns="18288" rIns="18288" tIns="9144" bIns="9144">
            <a:spAutoFit/>
          </a:bodyPr>
          <a:lstStyle/>
          <a:p>
            <a:pPr>
              <a:spcAft>
                <a:spcPts val="700"/>
              </a:spcAft>
              <a:defRPr sz="900" b="0">
                <a:solidFill>
                  <a:srgbClr val="4C575B"/>
                </a:solidFill>
                <a:latin typeface="Arial"/>
              </a:defRPr>
            </a:pPr>
            <a:r>
              <a:t>Kunal Mahurkar · Independent UX evaluation · 20 Oct 2026</a:t>
            </a:r>
          </a:p>
        </p:txBody>
      </p:sp>
      <p:sp>
        <p:nvSpPr>
          <p:cNvPr id="6" name="TextBox 5"/>
          <p:cNvSpPr txBox="1"/>
          <p:nvPr/>
        </p:nvSpPr>
        <p:spPr>
          <a:xfrm>
            <a:off x="10899648" y="6537960"/>
            <a:ext cx="704088" cy="164592"/>
          </a:xfrm>
          <a:prstGeom prst="rect">
            <a:avLst/>
          </a:prstGeom>
          <a:noFill/>
        </p:spPr>
        <p:txBody>
          <a:bodyPr wrap="square" lIns="18288" rIns="18288" tIns="9144" bIns="9144">
            <a:spAutoFit/>
          </a:bodyPr>
          <a:lstStyle/>
          <a:p>
            <a:pPr algn="r">
              <a:spcAft>
                <a:spcPts val="700"/>
              </a:spcAft>
              <a:defRPr sz="900" b="0">
                <a:solidFill>
                  <a:srgbClr val="4C575B"/>
                </a:solidFill>
                <a:latin typeface="Arial"/>
              </a:defRPr>
            </a:pPr>
            <a:r>
              <a:t>10 / 10</a:t>
            </a:r>
          </a:p>
        </p:txBody>
      </p:sp>
      <p:sp>
        <p:nvSpPr>
          <p:cNvPr id="7" name="TextBox 6"/>
          <p:cNvSpPr txBox="1"/>
          <p:nvPr/>
        </p:nvSpPr>
        <p:spPr>
          <a:xfrm>
            <a:off x="704088" y="1856231"/>
            <a:ext cx="5038344" cy="329184"/>
          </a:xfrm>
          <a:prstGeom prst="rect">
            <a:avLst/>
          </a:prstGeom>
          <a:noFill/>
        </p:spPr>
        <p:txBody>
          <a:bodyPr wrap="square" lIns="18288" rIns="18288" tIns="9144" bIns="9144">
            <a:spAutoFit/>
          </a:bodyPr>
          <a:lstStyle/>
          <a:p>
            <a:pPr>
              <a:spcAft>
                <a:spcPts val="700"/>
              </a:spcAft>
              <a:defRPr sz="1700" b="1">
                <a:solidFill>
                  <a:srgbClr val="131921"/>
                </a:solidFill>
                <a:latin typeface="Arial"/>
              </a:defRPr>
            </a:pPr>
            <a:r>
              <a:t>P1 · Total and fee</a:t>
            </a:r>
          </a:p>
        </p:txBody>
      </p:sp>
      <p:sp>
        <p:nvSpPr>
          <p:cNvPr id="8" name="TextBox 7"/>
          <p:cNvSpPr txBox="1"/>
          <p:nvPr/>
        </p:nvSpPr>
        <p:spPr>
          <a:xfrm>
            <a:off x="704088" y="2249424"/>
            <a:ext cx="5038344" cy="768096"/>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Ask shoppers to state the amount payable and explain the COD fee before placing an order.</a:t>
            </a:r>
          </a:p>
        </p:txBody>
      </p:sp>
      <p:sp>
        <p:nvSpPr>
          <p:cNvPr id="9" name="TextBox 8"/>
          <p:cNvSpPr txBox="1"/>
          <p:nvPr/>
        </p:nvSpPr>
        <p:spPr>
          <a:xfrm>
            <a:off x="6236208" y="1856231"/>
            <a:ext cx="4974336" cy="329184"/>
          </a:xfrm>
          <a:prstGeom prst="rect">
            <a:avLst/>
          </a:prstGeom>
          <a:noFill/>
        </p:spPr>
        <p:txBody>
          <a:bodyPr wrap="square" lIns="18288" rIns="18288" tIns="9144" bIns="9144">
            <a:spAutoFit/>
          </a:bodyPr>
          <a:lstStyle/>
          <a:p>
            <a:pPr>
              <a:spcAft>
                <a:spcPts val="700"/>
              </a:spcAft>
              <a:defRPr sz="1700" b="1">
                <a:solidFill>
                  <a:srgbClr val="131921"/>
                </a:solidFill>
                <a:latin typeface="Arial"/>
              </a:defRPr>
            </a:pPr>
            <a:r>
              <a:t>P1 discovery · Failure recovery</a:t>
            </a:r>
          </a:p>
        </p:txBody>
      </p:sp>
      <p:sp>
        <p:nvSpPr>
          <p:cNvPr id="10" name="TextBox 9"/>
          <p:cNvSpPr txBox="1"/>
          <p:nvPr/>
        </p:nvSpPr>
        <p:spPr>
          <a:xfrm>
            <a:off x="6236208" y="2249424"/>
            <a:ext cx="4974336" cy="768096"/>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Use a controlled simulated failure. Check whether shoppers understand payment status and recover safely.</a:t>
            </a:r>
          </a:p>
        </p:txBody>
      </p:sp>
      <p:sp>
        <p:nvSpPr>
          <p:cNvPr id="11" name="TextBox 10"/>
          <p:cNvSpPr txBox="1"/>
          <p:nvPr/>
        </p:nvSpPr>
        <p:spPr>
          <a:xfrm>
            <a:off x="704088" y="3328416"/>
            <a:ext cx="5038344" cy="329184"/>
          </a:xfrm>
          <a:prstGeom prst="rect">
            <a:avLst/>
          </a:prstGeom>
          <a:noFill/>
        </p:spPr>
        <p:txBody>
          <a:bodyPr wrap="square" lIns="18288" rIns="18288" tIns="9144" bIns="9144">
            <a:spAutoFit/>
          </a:bodyPr>
          <a:lstStyle/>
          <a:p>
            <a:pPr>
              <a:spcAft>
                <a:spcPts val="700"/>
              </a:spcAft>
              <a:defRPr sz="1700" b="1">
                <a:solidFill>
                  <a:srgbClr val="131921"/>
                </a:solidFill>
                <a:latin typeface="Arial"/>
              </a:defRPr>
            </a:pPr>
            <a:r>
              <a:t>P2 · Payment and editing</a:t>
            </a:r>
          </a:p>
        </p:txBody>
      </p:sp>
      <p:sp>
        <p:nvSpPr>
          <p:cNvPr id="12" name="TextBox 11"/>
          <p:cNvSpPr txBox="1"/>
          <p:nvPr/>
        </p:nvSpPr>
        <p:spPr>
          <a:xfrm>
            <a:off x="704088" y="3721608"/>
            <a:ext cx="5038344" cy="731520"/>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Compare method comprehension and late-edit success without prompting.</a:t>
            </a:r>
          </a:p>
        </p:txBody>
      </p:sp>
      <p:sp>
        <p:nvSpPr>
          <p:cNvPr id="13" name="TextBox 12"/>
          <p:cNvSpPr txBox="1"/>
          <p:nvPr/>
        </p:nvSpPr>
        <p:spPr>
          <a:xfrm>
            <a:off x="6236208" y="3328416"/>
            <a:ext cx="4974336" cy="329184"/>
          </a:xfrm>
          <a:prstGeom prst="rect">
            <a:avLst/>
          </a:prstGeom>
          <a:noFill/>
        </p:spPr>
        <p:txBody>
          <a:bodyPr wrap="square" lIns="18288" rIns="18288" tIns="9144" bIns="9144">
            <a:spAutoFit/>
          </a:bodyPr>
          <a:lstStyle/>
          <a:p>
            <a:pPr>
              <a:spcAft>
                <a:spcPts val="700"/>
              </a:spcAft>
              <a:defRPr sz="1700" b="1">
                <a:solidFill>
                  <a:srgbClr val="131921"/>
                </a:solidFill>
                <a:latin typeface="Arial"/>
              </a:defRPr>
            </a:pPr>
            <a:r>
              <a:t>P3 · Pointer targets</a:t>
            </a:r>
          </a:p>
        </p:txBody>
      </p:sp>
      <p:sp>
        <p:nvSpPr>
          <p:cNvPr id="14" name="TextBox 13"/>
          <p:cNvSpPr txBox="1"/>
          <p:nvPr/>
        </p:nvSpPr>
        <p:spPr>
          <a:xfrm>
            <a:off x="6236208" y="3721608"/>
            <a:ext cx="4974336" cy="731520"/>
          </a:xfrm>
          <a:prstGeom prst="rect">
            <a:avLst/>
          </a:prstGeom>
          <a:noFill/>
        </p:spPr>
        <p:txBody>
          <a:bodyPr wrap="square" lIns="18288" rIns="18288" tIns="9144" bIns="9144">
            <a:spAutoFit/>
          </a:bodyPr>
          <a:lstStyle/>
          <a:p>
            <a:pPr>
              <a:spcAft>
                <a:spcPts val="700"/>
              </a:spcAft>
              <a:defRPr sz="1500" b="0">
                <a:solidFill>
                  <a:srgbClr val="4C575B"/>
                </a:solidFill>
                <a:latin typeface="Arial"/>
              </a:defRPr>
            </a:pPr>
            <a:r>
              <a:t>Measure target sizes and missed clicks during desktop tasks.</a:t>
            </a:r>
          </a:p>
        </p:txBody>
      </p:sp>
      <p:sp>
        <p:nvSpPr>
          <p:cNvPr id="15" name="TextBox 14"/>
          <p:cNvSpPr txBox="1"/>
          <p:nvPr/>
        </p:nvSpPr>
        <p:spPr>
          <a:xfrm>
            <a:off x="704088" y="4919472"/>
            <a:ext cx="10671048" cy="539496"/>
          </a:xfrm>
          <a:prstGeom prst="rect">
            <a:avLst/>
          </a:prstGeom>
          <a:noFill/>
        </p:spPr>
        <p:txBody>
          <a:bodyPr wrap="square" lIns="18288" rIns="18288" tIns="9144" bIns="9144">
            <a:spAutoFit/>
          </a:bodyPr>
          <a:lstStyle/>
          <a:p>
            <a:pPr>
              <a:spcAft>
                <a:spcPts val="700"/>
              </a:spcAft>
              <a:defRPr sz="1700" b="1">
                <a:solidFill>
                  <a:srgbClr val="131921"/>
                </a:solidFill>
                <a:latin typeface="Arial"/>
              </a:defRPr>
            </a:pPr>
            <a:r>
              <a:t>Measures: correct total and fee, unaided task success, time, errors, recovery success, confidence.</a:t>
            </a:r>
          </a:p>
        </p:txBody>
      </p:sp>
      <p:sp>
        <p:nvSpPr>
          <p:cNvPr id="16" name="TextBox 15"/>
          <p:cNvSpPr txBox="1"/>
          <p:nvPr/>
        </p:nvSpPr>
        <p:spPr>
          <a:xfrm>
            <a:off x="704088" y="5650992"/>
            <a:ext cx="10698480" cy="566928"/>
          </a:xfrm>
          <a:prstGeom prst="rect">
            <a:avLst/>
          </a:prstGeom>
          <a:noFill/>
        </p:spPr>
        <p:txBody>
          <a:bodyPr wrap="square" lIns="18288" rIns="18288" tIns="9144" bIns="9144">
            <a:spAutoFit/>
          </a:bodyPr>
          <a:lstStyle/>
          <a:p>
            <a:pPr>
              <a:spcAft>
                <a:spcPts val="700"/>
              </a:spcAft>
              <a:defRPr sz="1000" b="0">
                <a:solidFill>
                  <a:srgbClr val="4C575B"/>
                </a:solidFill>
                <a:latin typeface="Arial"/>
              </a:defRPr>
            </a:pPr>
            <a:r>
              <a:t>References: nngroup.com/articles/ten-usability-heuristics/ · interaction-design.org/literature/topics/hick-s-law · interaction-design.org/literature/topics/fitts-law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